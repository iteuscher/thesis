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3"/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12191675"/>
  <p:notesSz cx="6858000" cy="12191675"/>
  <p:embeddedFontLst>
    <p:embeddedFont>
      <p:font typeface="Aldrich"/>
      <p:regular r:id="rId56"/>
    </p:embeddedFont>
    <p:embeddedFont>
      <p:font typeface="Gowun Batang"/>
      <p:regular r:id="rId57"/>
      <p:bold r:id="rId58"/>
    </p:embeddedFont>
    <p:embeddedFont>
      <p:font typeface="Montserrat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GowunBatang-regular.fntdata"/><Relationship Id="rId12" Type="http://schemas.openxmlformats.org/officeDocument/2006/relationships/slide" Target="slides/slide7.xml"/><Relationship Id="rId56" Type="http://schemas.openxmlformats.org/officeDocument/2006/relationships/font" Target="fonts/Aldrich-regular.fntdata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font" Target="fonts/GowunBatang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8fc095579_0_7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e8fc095579_0_7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8fc095579_0_7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does this thesis ask?</a:t>
            </a:r>
            <a:br>
              <a:rPr lang="en-US"/>
            </a:br>
            <a:br>
              <a:rPr lang="en-US"/>
            </a:br>
            <a:r>
              <a:rPr lang="en-US"/>
              <a:t>Key point: Passkeys might help — but how do current methods actually compare?</a:t>
            </a:r>
            <a:endParaRPr/>
          </a:p>
        </p:txBody>
      </p:sp>
      <p:sp>
        <p:nvSpPr>
          <p:cNvPr id="427" name="Google Shape;4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8fc095579_0_30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e8fc095579_0_30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e8fc095579_0_30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is this thesis about?</a:t>
            </a:r>
            <a:br>
              <a:rPr lang="en-US"/>
            </a:br>
            <a:br>
              <a:rPr lang="en-US"/>
            </a:br>
            <a:r>
              <a:rPr lang="en-US"/>
              <a:t>Key point: Protecting confidentiality in transit and at rest is the core problem.</a:t>
            </a:r>
            <a:endParaRPr/>
          </a:p>
        </p:txBody>
      </p:sp>
      <p:sp>
        <p:nvSpPr>
          <p:cNvPr id="467" name="Google Shape;4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8fc095579_0_1262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8fc095579_0_1262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e8fc095579_0_1277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e8fc095579_0_1277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8fc095579_0_1294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e8fc095579_0_1294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8fc095579_0_1313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e8fc095579_0_1313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8fc095579_0_1334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e8fc095579_0_1334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bad is the problem really?</a:t>
            </a:r>
            <a:br>
              <a:rPr lang="en-US"/>
            </a:br>
            <a:br>
              <a:rPr lang="en-US"/>
            </a:br>
            <a:r>
              <a:rPr lang="en-US"/>
              <a:t>Key point: This is not a one-off — it is a recurring, large-scale failure mode.</a:t>
            </a:r>
            <a:endParaRPr/>
          </a:p>
        </p:txBody>
      </p:sp>
      <p:sp>
        <p:nvSpPr>
          <p:cNvPr id="622" name="Google Shape;6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8fc095579_0_17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e8fc095579_0_17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bad is the problem really?</a:t>
            </a:r>
            <a:br>
              <a:rPr lang="en-US"/>
            </a:br>
            <a:br>
              <a:rPr lang="en-US"/>
            </a:br>
            <a:r>
              <a:rPr lang="en-US"/>
              <a:t>Key point: This is not a one-off — it is a recurring, large-scale failure mode.</a:t>
            </a:r>
            <a:endParaRPr/>
          </a:p>
        </p:txBody>
      </p:sp>
      <p:sp>
        <p:nvSpPr>
          <p:cNvPr id="640" name="Google Shape;640;g3e8fc095579_0_17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e8fc095579_0_17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3e8fc095579_0_17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bad is the problem really?</a:t>
            </a:r>
            <a:br>
              <a:rPr lang="en-US"/>
            </a:br>
            <a:br>
              <a:rPr lang="en-US"/>
            </a:br>
            <a:r>
              <a:rPr lang="en-US"/>
              <a:t>Key point: This is not a one-off — it is a recurring, large-scale failure mode.</a:t>
            </a:r>
            <a:endParaRPr/>
          </a:p>
        </p:txBody>
      </p:sp>
      <p:sp>
        <p:nvSpPr>
          <p:cNvPr id="652" name="Google Shape;652;g3e8fc095579_0_17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e8fc095579_0_18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e8fc095579_0_18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bad is the problem really?</a:t>
            </a:r>
            <a:br>
              <a:rPr lang="en-US"/>
            </a:br>
            <a:br>
              <a:rPr lang="en-US"/>
            </a:br>
            <a:r>
              <a:rPr lang="en-US"/>
              <a:t>Key point: This is not a one-off — it is a recurring, large-scale failure mode.</a:t>
            </a:r>
            <a:endParaRPr/>
          </a:p>
        </p:txBody>
      </p:sp>
      <p:sp>
        <p:nvSpPr>
          <p:cNvPr id="688" name="Google Shape;688;g3e8fc095579_0_18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e8fc095579_0_18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g3e8fc095579_0_18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bad is the problem really?</a:t>
            </a:r>
            <a:br>
              <a:rPr lang="en-US"/>
            </a:br>
            <a:br>
              <a:rPr lang="en-US"/>
            </a:br>
            <a:r>
              <a:rPr lang="en-US"/>
              <a:t>Key point: This is not a one-off — it is a recurring, large-scale failure mode.</a:t>
            </a:r>
            <a:endParaRPr/>
          </a:p>
        </p:txBody>
      </p:sp>
      <p:sp>
        <p:nvSpPr>
          <p:cNvPr id="701" name="Google Shape;701;g3e8fc095579_0_18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Why hasn't document protection kept up?</a:t>
            </a:r>
            <a:br>
              <a:rPr lang="en-US"/>
            </a:br>
            <a:br>
              <a:rPr lang="en-US"/>
            </a:br>
            <a:r>
              <a:rPr lang="en-US"/>
              <a:t>Key point: Protection leans on perimeter defense and user-chosen passwords.</a:t>
            </a:r>
            <a:endParaRPr/>
          </a:p>
        </p:txBody>
      </p:sp>
      <p:sp>
        <p:nvSpPr>
          <p:cNvPr id="716" name="Google Shape;7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e8fc095579_0_30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e8fc095579_0_30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e8fc095579_0_30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The evaluation lens</a:t>
            </a:r>
            <a:br>
              <a:rPr lang="en-US"/>
            </a:br>
            <a:br>
              <a:rPr lang="en-US"/>
            </a:br>
            <a:r>
              <a:rPr lang="en-US"/>
              <a:t>Key point: 15 requirements an ideal document-protection method should satisfy.</a:t>
            </a:r>
            <a:endParaRPr/>
          </a:p>
        </p:txBody>
      </p:sp>
      <p:sp>
        <p:nvSpPr>
          <p:cNvPr id="761" name="Google Shape;7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the framework shows</a:t>
            </a:r>
            <a:br>
              <a:rPr lang="en-US"/>
            </a:br>
            <a:br>
              <a:rPr lang="en-US"/>
            </a:br>
            <a:r>
              <a:rPr lang="en-US"/>
              <a:t>Key point: Passwordless is strongest on security — can we fix its deployability &amp; sharing gaps?</a:t>
            </a:r>
            <a:endParaRPr/>
          </a:p>
        </p:txBody>
      </p:sp>
      <p:sp>
        <p:nvSpPr>
          <p:cNvPr id="788" name="Google Shape;7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e8fc095579_0_2673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e8fc095579_0_2673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Are there good encryption building blocks?</a:t>
            </a:r>
            <a:br>
              <a:rPr lang="en-US"/>
            </a:br>
            <a:br>
              <a:rPr lang="en-US"/>
            </a:br>
            <a:r>
              <a:rPr lang="en-US"/>
              <a:t>Key point: Encryption is solved — but how do you authenticate without a password?</a:t>
            </a:r>
            <a:endParaRPr/>
          </a:p>
        </p:txBody>
      </p:sp>
      <p:sp>
        <p:nvSpPr>
          <p:cNvPr id="810" name="Google Shape;8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do you authenticate without a password?</a:t>
            </a:r>
            <a:br>
              <a:rPr lang="en-US"/>
            </a:br>
            <a:br>
              <a:rPr lang="en-US"/>
            </a:br>
            <a:r>
              <a:rPr lang="en-US"/>
              <a:t>Key point: Passkeys are close to ideal for authentication — can they reach into encryption?</a:t>
            </a:r>
            <a:endParaRPr/>
          </a:p>
        </p:txBody>
      </p:sp>
      <p:sp>
        <p:nvSpPr>
          <p:cNvPr id="833" name="Google Shape;8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e8fc095579_0_30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3e8fc095579_0_30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FIDO Alliance State of Passkeys 2026 (n=11,000 across 10 countries): ~5B active passkeys, 90% familiar, 75% enabled on some accounts, 68% of orgs deploying/piloting. Cite [7]. Point: deployability — historically the barrier to password replacement — is now largely solved for FIDO2, which is what makes building on it realistic.</a:t>
            </a:r>
            <a:endParaRPr/>
          </a:p>
        </p:txBody>
      </p:sp>
      <p:sp>
        <p:nvSpPr>
          <p:cNvPr id="846" name="Google Shape;846;g3e8fc095579_0_30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The key idea</a:t>
            </a:r>
            <a:br>
              <a:rPr lang="en-US"/>
            </a:br>
            <a:br>
              <a:rPr lang="en-US"/>
            </a:br>
            <a:r>
              <a:rPr lang="en-US"/>
              <a:t>Key point: PRF turns a passkey into a source of encryption keys.</a:t>
            </a:r>
            <a:endParaRPr/>
          </a:p>
        </p:txBody>
      </p:sp>
      <p:sp>
        <p:nvSpPr>
          <p:cNvPr id="876" name="Google Shape;8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e8fc095579_0_19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g3e8fc095579_0_19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do you authenticate without a password?</a:t>
            </a:r>
            <a:br>
              <a:rPr lang="en-US"/>
            </a:br>
            <a:br>
              <a:rPr lang="en-US"/>
            </a:br>
            <a:r>
              <a:rPr lang="en-US"/>
              <a:t>Key point: Passkeys are close to ideal for authentication — can they reach into encryption?</a:t>
            </a:r>
            <a:endParaRPr/>
          </a:p>
        </p:txBody>
      </p:sp>
      <p:sp>
        <p:nvSpPr>
          <p:cNvPr id="893" name="Google Shape;893;g3e8fc095579_0_19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e8fc095579_0_3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g3e8fc095579_0_3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e8fc095579_0_3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was this research conducted?</a:t>
            </a:r>
            <a:br>
              <a:rPr lang="en-US"/>
            </a:br>
            <a:br>
              <a:rPr lang="en-US"/>
            </a:br>
            <a:r>
              <a:rPr lang="en-US"/>
              <a:t>Key point: Phase 1 first: what does the framework reveal about today's methods?</a:t>
            </a:r>
            <a:endParaRPr/>
          </a:p>
        </p:txBody>
      </p:sp>
      <p:sp>
        <p:nvSpPr>
          <p:cNvPr id="925" name="Google Shape;9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Can we build something that fills the gaps?</a:t>
            </a:r>
            <a:br>
              <a:rPr lang="en-US"/>
            </a:br>
            <a:br>
              <a:rPr lang="en-US"/>
            </a:br>
            <a:r>
              <a:rPr lang="en-US"/>
              <a:t>Key point: No passwords, no shared secrets, no plaintext on the server.</a:t>
            </a:r>
            <a:endParaRPr/>
          </a:p>
        </p:txBody>
      </p:sp>
      <p:sp>
        <p:nvSpPr>
          <p:cNvPr id="961" name="Google Shape;9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it works — 2 of 2</a:t>
            </a:r>
            <a:br>
              <a:rPr lang="en-US"/>
            </a:br>
            <a:br>
              <a:rPr lang="en-US"/>
            </a:br>
            <a:r>
              <a:rPr lang="en-US"/>
              <a:t>Key point: Owner can revoke or re-share — yet the server can never decrypt the file.</a:t>
            </a:r>
            <a:endParaRPr/>
          </a:p>
        </p:txBody>
      </p:sp>
      <p:sp>
        <p:nvSpPr>
          <p:cNvPr id="991" name="Google Shape;9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The proof of concept</a:t>
            </a:r>
            <a:br>
              <a:rPr lang="en-US"/>
            </a:br>
            <a:br>
              <a:rPr lang="en-US"/>
            </a:br>
            <a:r>
              <a:rPr lang="en-US"/>
              <a:t>Key point: Open source — iteuscher/doc-protect  ·  doc-protect.vercel.app</a:t>
            </a:r>
            <a:endParaRPr/>
          </a:p>
        </p:txBody>
      </p:sp>
      <p:sp>
        <p:nvSpPr>
          <p:cNvPr id="1003" name="Google Shape;100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e8fc095579_0_3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g3e8fc095579_0_3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How it works — 2 of 2</a:t>
            </a:r>
            <a:br>
              <a:rPr lang="en-US"/>
            </a:br>
            <a:br>
              <a:rPr lang="en-US"/>
            </a:br>
            <a:r>
              <a:rPr lang="en-US"/>
              <a:t>Key point: Owner can revoke or re-share — yet the server can never decrypt the file.</a:t>
            </a:r>
            <a:endParaRPr/>
          </a:p>
        </p:txBody>
      </p:sp>
      <p:sp>
        <p:nvSpPr>
          <p:cNvPr id="1028" name="Google Shape;1028;g3e8fc095579_0_3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e8fc095579_0_3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3e8fc095579_0_3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3e8fc095579_0_3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e8fc095579_0_3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g3e8fc095579_0_3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Will users actually find it usable?</a:t>
            </a:r>
            <a:br>
              <a:rPr lang="en-US"/>
            </a:br>
            <a:br>
              <a:rPr lang="en-US"/>
            </a:br>
            <a:r>
              <a:rPr lang="en-US"/>
              <a:t>Key point: A fair, first-use comparison against a mature commercial tool.</a:t>
            </a:r>
            <a:endParaRPr/>
          </a:p>
        </p:txBody>
      </p:sp>
      <p:sp>
        <p:nvSpPr>
          <p:cNvPr id="1064" name="Google Shape;1064;g3e8fc095579_0_3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we measure?</a:t>
            </a:r>
            <a:br>
              <a:rPr lang="en-US"/>
            </a:br>
            <a:br>
              <a:rPr lang="en-US"/>
            </a:br>
            <a:r>
              <a:rPr lang="en-US"/>
              <a:t>Key point: Quantitative comparison plus qualitative depth.</a:t>
            </a:r>
            <a:endParaRPr/>
          </a:p>
        </p:txBody>
      </p:sp>
      <p:sp>
        <p:nvSpPr>
          <p:cNvPr id="1092" name="Google Shape;109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Will users actually find it usable?</a:t>
            </a:r>
            <a:br>
              <a:rPr lang="en-US"/>
            </a:br>
            <a:br>
              <a:rPr lang="en-US"/>
            </a:br>
            <a:r>
              <a:rPr lang="en-US"/>
              <a:t>Key point: A fair, first-use comparison against a mature commercial tool.</a:t>
            </a:r>
            <a:endParaRPr/>
          </a:p>
        </p:txBody>
      </p:sp>
      <p:sp>
        <p:nvSpPr>
          <p:cNvPr id="1119" name="Google Shape;11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5" name="Google Shape;11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Who participated?</a:t>
            </a:r>
            <a:br>
              <a:rPr lang="en-US"/>
            </a:br>
            <a:br>
              <a:rPr lang="en-US"/>
            </a:br>
            <a:r>
              <a:rPr lang="en-US"/>
              <a:t>Key point: A technically literate sample with high baseline privacy concern.</a:t>
            </a:r>
            <a:endParaRPr/>
          </a:p>
        </p:txBody>
      </p:sp>
      <p:sp>
        <p:nvSpPr>
          <p:cNvPr id="1136" name="Google Shape;113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e8fc095579_0_3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3e8fc095579_0_3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Who participated?</a:t>
            </a:r>
            <a:br>
              <a:rPr lang="en-US"/>
            </a:br>
            <a:br>
              <a:rPr lang="en-US"/>
            </a:br>
            <a:r>
              <a:rPr lang="en-US"/>
              <a:t>Key point: A technically literate sample with high baseline privacy concern.</a:t>
            </a:r>
            <a:endParaRPr/>
          </a:p>
        </p:txBody>
      </p:sp>
      <p:sp>
        <p:nvSpPr>
          <p:cNvPr id="1162" name="Google Shape;1162;g3e8fc095579_0_32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ea24d29684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g3ea24d29684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the data show?</a:t>
            </a:r>
            <a:br>
              <a:rPr lang="en-US"/>
            </a:br>
            <a:br>
              <a:rPr lang="en-US"/>
            </a:br>
            <a:r>
              <a:rPr lang="en-US"/>
              <a:t>Key point: First-use friction concentrates among less tech-savvy users — a design target.</a:t>
            </a:r>
            <a:endParaRPr/>
          </a:p>
        </p:txBody>
      </p:sp>
      <p:sp>
        <p:nvSpPr>
          <p:cNvPr id="1174" name="Google Shape;1174;g3ea24d29684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e8fc095579_0_3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g3e8fc095579_0_3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g3e8fc095579_0_3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5" name="Google Shape;12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the data show?</a:t>
            </a:r>
            <a:br>
              <a:rPr lang="en-US"/>
            </a:br>
            <a:br>
              <a:rPr lang="en-US"/>
            </a:br>
            <a:r>
              <a:rPr lang="en-US"/>
              <a:t>Key point: Parity with Adobe Acrobat — itself a meaningful result for a prototype.</a:t>
            </a:r>
            <a:endParaRPr/>
          </a:p>
        </p:txBody>
      </p:sp>
      <p:sp>
        <p:nvSpPr>
          <p:cNvPr id="1206" name="Google Shape;120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ea24d2968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3" name="Google Shape;1223;g3ea24d2968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the data show?</a:t>
            </a:r>
            <a:br>
              <a:rPr lang="en-US"/>
            </a:br>
            <a:br>
              <a:rPr lang="en-US"/>
            </a:br>
            <a:r>
              <a:rPr lang="en-US"/>
              <a:t>Key point: Parity with Adobe Acrobat — itself a meaningful result for a prototype.</a:t>
            </a:r>
            <a:endParaRPr/>
          </a:p>
        </p:txBody>
      </p:sp>
      <p:sp>
        <p:nvSpPr>
          <p:cNvPr id="1224" name="Google Shape;1224;g3ea24d29684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the data show?</a:t>
            </a:r>
            <a:br>
              <a:rPr lang="en-US"/>
            </a:br>
            <a:br>
              <a:rPr lang="en-US"/>
            </a:br>
            <a:r>
              <a:rPr lang="en-US"/>
              <a:t>Key point: Equal to use, but seen as more useful — with a large effect (r = .63).</a:t>
            </a:r>
            <a:endParaRPr/>
          </a:p>
        </p:txBody>
      </p:sp>
      <p:sp>
        <p:nvSpPr>
          <p:cNvPr id="1241" name="Google Shape;124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5" name="Google Shape;125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the data show?</a:t>
            </a:r>
            <a:br>
              <a:rPr lang="en-US"/>
            </a:br>
            <a:br>
              <a:rPr lang="en-US"/>
            </a:br>
            <a:r>
              <a:rPr lang="en-US"/>
              <a:t>Key point: First-use friction concentrates among less tech-savvy users — a design target.</a:t>
            </a:r>
            <a:endParaRPr/>
          </a:p>
        </p:txBody>
      </p:sp>
      <p:sp>
        <p:nvSpPr>
          <p:cNvPr id="1256" name="Google Shape;125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ea24d29684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g3ea24d29684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the data show?</a:t>
            </a:r>
            <a:br>
              <a:rPr lang="en-US"/>
            </a:br>
            <a:br>
              <a:rPr lang="en-US"/>
            </a:br>
            <a:r>
              <a:rPr lang="en-US"/>
              <a:t>Key point: First-use friction concentrates among less tech-savvy users — a design target.</a:t>
            </a:r>
            <a:endParaRPr/>
          </a:p>
        </p:txBody>
      </p:sp>
      <p:sp>
        <p:nvSpPr>
          <p:cNvPr id="1273" name="Google Shape;1273;g3ea24d29684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5" name="Google Shape;12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What did the data show?</a:t>
            </a:r>
            <a:br>
              <a:rPr lang="en-US"/>
            </a:br>
            <a:br>
              <a:rPr lang="en-US"/>
            </a:br>
            <a:r>
              <a:rPr lang="en-US"/>
              <a:t>Key point: Strong, near-unanimous willingness to adopt — especially for sharing.</a:t>
            </a:r>
            <a:endParaRPr/>
          </a:p>
        </p:txBody>
      </p:sp>
      <p:sp>
        <p:nvSpPr>
          <p:cNvPr id="1286" name="Google Shape;128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Why the preference? — five themes</a:t>
            </a:r>
            <a:br>
              <a:rPr lang="en-US"/>
            </a:br>
            <a:br>
              <a:rPr lang="en-US"/>
            </a:br>
            <a:r>
              <a:rPr lang="en-US"/>
              <a:t>Key point: Password sharing frustration + biometric trust drive the preference.</a:t>
            </a:r>
            <a:endParaRPr/>
          </a:p>
        </p:txBody>
      </p:sp>
      <p:sp>
        <p:nvSpPr>
          <p:cNvPr id="1307" name="Google Shape;13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3" name="Google Shape;134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So what does it mean?</a:t>
            </a:r>
            <a:br>
              <a:rPr lang="en-US"/>
            </a:br>
            <a:br>
              <a:rPr lang="en-US"/>
            </a:br>
            <a:r>
              <a:rPr lang="en-US"/>
              <a:t>Key point: Passwordless document encryption is technically feasible and acceptable to users.</a:t>
            </a:r>
            <a:endParaRPr/>
          </a:p>
        </p:txBody>
      </p:sp>
      <p:sp>
        <p:nvSpPr>
          <p:cNvPr id="1344" name="Google Shape;134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5" name="Google Shape;13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Entering question: With what caveats?</a:t>
            </a:r>
            <a:br>
              <a:rPr lang="en-US"/>
            </a:br>
            <a:br>
              <a:rPr lang="en-US"/>
            </a:br>
            <a:r>
              <a:rPr lang="en-US"/>
              <a:t>Key point: Clear caveats — and a concrete path forward.</a:t>
            </a:r>
            <a:endParaRPr/>
          </a:p>
        </p:txBody>
      </p:sp>
      <p:sp>
        <p:nvSpPr>
          <p:cNvPr id="1376" name="Google Shape;137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3" name="Google Shape;139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" type="body"/>
          </p:nvPr>
        </p:nvSpPr>
        <p:spPr>
          <a:xfrm>
            <a:off x="304792" y="3808033"/>
            <a:ext cx="25191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3" name="Google Shape;13;p3"/>
          <p:cNvSpPr txBox="1"/>
          <p:nvPr>
            <p:ph idx="2" type="body"/>
          </p:nvPr>
        </p:nvSpPr>
        <p:spPr>
          <a:xfrm>
            <a:off x="304792" y="224100"/>
            <a:ext cx="2519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04792" y="2546333"/>
            <a:ext cx="8310300" cy="12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" name="Google Shape;17;p3"/>
          <p:cNvSpPr txBox="1"/>
          <p:nvPr>
            <p:ph idx="4" type="body"/>
          </p:nvPr>
        </p:nvSpPr>
        <p:spPr>
          <a:xfrm>
            <a:off x="3200315" y="3808033"/>
            <a:ext cx="25191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8" name="Google Shape;18;p3"/>
          <p:cNvSpPr txBox="1"/>
          <p:nvPr>
            <p:ph idx="5" type="body"/>
          </p:nvPr>
        </p:nvSpPr>
        <p:spPr>
          <a:xfrm>
            <a:off x="3200315" y="224100"/>
            <a:ext cx="2519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9" name="Google Shape;19;p3"/>
          <p:cNvSpPr txBox="1"/>
          <p:nvPr>
            <p:ph idx="6" type="body"/>
          </p:nvPr>
        </p:nvSpPr>
        <p:spPr>
          <a:xfrm>
            <a:off x="6095838" y="224100"/>
            <a:ext cx="2519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0" name="Google Shape;20;p3"/>
          <p:cNvSpPr txBox="1"/>
          <p:nvPr>
            <p:ph idx="7" type="body"/>
          </p:nvPr>
        </p:nvSpPr>
        <p:spPr>
          <a:xfrm>
            <a:off x="8991360" y="224100"/>
            <a:ext cx="2519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E46962"/>
          </p15:clr>
        </p15:guide>
        <p15:guide id="2" pos="3840">
          <p15:clr>
            <a:srgbClr val="E46962"/>
          </p15:clr>
        </p15:guide>
        <p15:guide id="3" pos="192">
          <p15:clr>
            <a:srgbClr val="E46962"/>
          </p15:clr>
        </p15:guide>
        <p15:guide id="4" pos="2016">
          <p15:clr>
            <a:srgbClr val="E46962"/>
          </p15:clr>
        </p15:guide>
        <p15:guide id="5" pos="5664">
          <p15:clr>
            <a:srgbClr val="E46962"/>
          </p15:clr>
        </p15:guide>
        <p15:guide id="6" pos="748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0" type="dt"/>
          </p:nvPr>
        </p:nvSpPr>
        <p:spPr>
          <a:xfrm>
            <a:off x="304792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2082744" y="4237567"/>
            <a:ext cx="1930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4368684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900"/>
            </a:lvl1pPr>
            <a:lvl2pPr indent="0" lvl="1" marL="0" algn="r">
              <a:spcBef>
                <a:spcPts val="0"/>
              </a:spcBef>
              <a:buNone/>
              <a:defRPr sz="1900"/>
            </a:lvl2pPr>
            <a:lvl3pPr indent="0" lvl="2" marL="0" algn="r">
              <a:spcBef>
                <a:spcPts val="0"/>
              </a:spcBef>
              <a:buNone/>
              <a:defRPr sz="1900"/>
            </a:lvl3pPr>
            <a:lvl4pPr indent="0" lvl="3" marL="0" algn="r">
              <a:spcBef>
                <a:spcPts val="0"/>
              </a:spcBef>
              <a:buNone/>
              <a:defRPr sz="1900"/>
            </a:lvl4pPr>
            <a:lvl5pPr indent="0" lvl="4" marL="0" algn="r">
              <a:spcBef>
                <a:spcPts val="0"/>
              </a:spcBef>
              <a:buNone/>
              <a:defRPr sz="1900"/>
            </a:lvl5pPr>
            <a:lvl6pPr indent="0" lvl="5" marL="0" algn="r">
              <a:spcBef>
                <a:spcPts val="0"/>
              </a:spcBef>
              <a:buNone/>
              <a:defRPr sz="1900"/>
            </a:lvl6pPr>
            <a:lvl7pPr indent="0" lvl="6" marL="0" algn="r">
              <a:spcBef>
                <a:spcPts val="0"/>
              </a:spcBef>
              <a:buNone/>
              <a:defRPr sz="1900"/>
            </a:lvl7pPr>
            <a:lvl8pPr indent="0" lvl="7" marL="0" algn="r">
              <a:spcBef>
                <a:spcPts val="0"/>
              </a:spcBef>
              <a:buNone/>
              <a:defRPr sz="1900"/>
            </a:lvl8pPr>
            <a:lvl9pPr indent="0" lvl="8" marL="0" algn="r">
              <a:spcBef>
                <a:spcPts val="0"/>
              </a:spcBef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04792" y="3808033"/>
            <a:ext cx="2519100" cy="89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04792" y="2241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6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304792" y="2546333"/>
            <a:ext cx="8310300" cy="1261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6"/>
          <p:cNvSpPr txBox="1"/>
          <p:nvPr>
            <p:ph idx="4" type="body"/>
          </p:nvPr>
        </p:nvSpPr>
        <p:spPr>
          <a:xfrm>
            <a:off x="3200315" y="3808033"/>
            <a:ext cx="2519100" cy="89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5" type="body"/>
          </p:nvPr>
        </p:nvSpPr>
        <p:spPr>
          <a:xfrm>
            <a:off x="3200315" y="2241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6" type="body"/>
          </p:nvPr>
        </p:nvSpPr>
        <p:spPr>
          <a:xfrm>
            <a:off x="6095838" y="2241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7" type="body"/>
          </p:nvPr>
        </p:nvSpPr>
        <p:spPr>
          <a:xfrm>
            <a:off x="8991360" y="2241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E46962"/>
          </p15:clr>
        </p15:guide>
        <p15:guide id="2" pos="3840">
          <p15:clr>
            <a:srgbClr val="E46962"/>
          </p15:clr>
        </p15:guide>
        <p15:guide id="3" pos="192">
          <p15:clr>
            <a:srgbClr val="E46962"/>
          </p15:clr>
        </p15:guide>
        <p15:guide id="4" pos="2016">
          <p15:clr>
            <a:srgbClr val="E46962"/>
          </p15:clr>
        </p15:guide>
        <p15:guide id="5" pos="5664">
          <p15:clr>
            <a:srgbClr val="E46962"/>
          </p15:clr>
        </p15:guide>
        <p15:guide id="6" pos="748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04792" y="2546333"/>
            <a:ext cx="8310300" cy="1261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44" name="Google Shape;44;p7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304792" y="3821633"/>
            <a:ext cx="8310300" cy="866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E46962"/>
          </p15:clr>
        </p15:guide>
        <p15:guide id="2" pos="3840">
          <p15:clr>
            <a:srgbClr val="E46962"/>
          </p15:clr>
        </p15:guide>
        <p15:guide id="3" pos="192">
          <p15:clr>
            <a:srgbClr val="E46962"/>
          </p15:clr>
        </p15:guide>
        <p15:guide id="4" pos="2016">
          <p15:clr>
            <a:srgbClr val="E46962"/>
          </p15:clr>
        </p15:guide>
        <p15:guide id="5" pos="5664">
          <p15:clr>
            <a:srgbClr val="E46962"/>
          </p15:clr>
        </p15:guide>
        <p15:guide id="6" pos="74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" type="body"/>
          </p:nvPr>
        </p:nvSpPr>
        <p:spPr>
          <a:xfrm>
            <a:off x="304792" y="3808033"/>
            <a:ext cx="2519100" cy="89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8"/>
          <p:cNvSpPr txBox="1"/>
          <p:nvPr>
            <p:ph type="title"/>
          </p:nvPr>
        </p:nvSpPr>
        <p:spPr>
          <a:xfrm>
            <a:off x="304792" y="2546333"/>
            <a:ext cx="8310300" cy="1261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E46962"/>
          </p15:clr>
        </p15:guide>
        <p15:guide id="2" pos="3840">
          <p15:clr>
            <a:srgbClr val="E46962"/>
          </p15:clr>
        </p15:guide>
        <p15:guide id="3" pos="192">
          <p15:clr>
            <a:srgbClr val="E46962"/>
          </p15:clr>
        </p15:guide>
        <p15:guide id="4" pos="2016">
          <p15:clr>
            <a:srgbClr val="E46962"/>
          </p15:clr>
        </p15:guide>
        <p15:guide id="5" pos="5664">
          <p15:clr>
            <a:srgbClr val="E46962"/>
          </p15:clr>
        </p15:guide>
        <p15:guide id="6" pos="7488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304792" y="223667"/>
            <a:ext cx="7010100" cy="41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5" name="Google Shape;55;p9"/>
          <p:cNvCxnSpPr/>
          <p:nvPr/>
        </p:nvCxnSpPr>
        <p:spPr>
          <a:xfrm>
            <a:off x="304792" y="637500"/>
            <a:ext cx="1158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9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4608">
          <p15:clr>
            <a:srgbClr val="E46962"/>
          </p15:clr>
        </p15:guide>
        <p15:guide id="2" pos="6336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305925" y="219133"/>
            <a:ext cx="11582100" cy="647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2" type="subTitle"/>
          </p:nvPr>
        </p:nvSpPr>
        <p:spPr>
          <a:xfrm>
            <a:off x="304792" y="1618033"/>
            <a:ext cx="36375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62" name="Google Shape;62;p10"/>
          <p:cNvSpPr txBox="1"/>
          <p:nvPr>
            <p:ph idx="3" type="subTitle"/>
          </p:nvPr>
        </p:nvSpPr>
        <p:spPr>
          <a:xfrm>
            <a:off x="4277086" y="1618033"/>
            <a:ext cx="36375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63" name="Google Shape;63;p10"/>
          <p:cNvSpPr txBox="1"/>
          <p:nvPr>
            <p:ph idx="4" type="subTitle"/>
          </p:nvPr>
        </p:nvSpPr>
        <p:spPr>
          <a:xfrm>
            <a:off x="8249380" y="1618033"/>
            <a:ext cx="36375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cxnSp>
        <p:nvCxnSpPr>
          <p:cNvPr id="64" name="Google Shape;64;p10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1"/>
          <p:cNvSpPr txBox="1"/>
          <p:nvPr>
            <p:ph type="title"/>
          </p:nvPr>
        </p:nvSpPr>
        <p:spPr>
          <a:xfrm>
            <a:off x="305925" y="219133"/>
            <a:ext cx="11582100" cy="116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305925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2" type="subTitle"/>
          </p:nvPr>
        </p:nvSpPr>
        <p:spPr>
          <a:xfrm>
            <a:off x="305925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70" name="Google Shape;70;p11"/>
          <p:cNvSpPr txBox="1"/>
          <p:nvPr>
            <p:ph idx="3" type="body"/>
          </p:nvPr>
        </p:nvSpPr>
        <p:spPr>
          <a:xfrm>
            <a:off x="4207621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4" type="subTitle"/>
          </p:nvPr>
        </p:nvSpPr>
        <p:spPr>
          <a:xfrm>
            <a:off x="4207621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72" name="Google Shape;72;p11"/>
          <p:cNvSpPr txBox="1"/>
          <p:nvPr>
            <p:ph idx="5" type="body"/>
          </p:nvPr>
        </p:nvSpPr>
        <p:spPr>
          <a:xfrm>
            <a:off x="8109317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6" type="subTitle"/>
          </p:nvPr>
        </p:nvSpPr>
        <p:spPr>
          <a:xfrm>
            <a:off x="8109317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74" name="Google Shape;74;p11"/>
          <p:cNvSpPr txBox="1"/>
          <p:nvPr>
            <p:ph idx="7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75" name="Google Shape;75;p11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2"/>
          <p:cNvSpPr txBox="1"/>
          <p:nvPr>
            <p:ph type="title"/>
          </p:nvPr>
        </p:nvSpPr>
        <p:spPr>
          <a:xfrm>
            <a:off x="305925" y="219133"/>
            <a:ext cx="11582100" cy="116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305925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2" type="subTitle"/>
          </p:nvPr>
        </p:nvSpPr>
        <p:spPr>
          <a:xfrm>
            <a:off x="305925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1" name="Google Shape;81;p12"/>
          <p:cNvSpPr txBox="1"/>
          <p:nvPr>
            <p:ph idx="3" type="body"/>
          </p:nvPr>
        </p:nvSpPr>
        <p:spPr>
          <a:xfrm>
            <a:off x="4207621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4" type="subTitle"/>
          </p:nvPr>
        </p:nvSpPr>
        <p:spPr>
          <a:xfrm>
            <a:off x="4207621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3" name="Google Shape;83;p12"/>
          <p:cNvSpPr txBox="1"/>
          <p:nvPr>
            <p:ph idx="5" type="body"/>
          </p:nvPr>
        </p:nvSpPr>
        <p:spPr>
          <a:xfrm>
            <a:off x="8109317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6" type="subTitle"/>
          </p:nvPr>
        </p:nvSpPr>
        <p:spPr>
          <a:xfrm>
            <a:off x="8109317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cxnSp>
        <p:nvCxnSpPr>
          <p:cNvPr id="85" name="Google Shape;85;p12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3"/>
          <p:cNvSpPr txBox="1"/>
          <p:nvPr>
            <p:ph type="title"/>
          </p:nvPr>
        </p:nvSpPr>
        <p:spPr>
          <a:xfrm>
            <a:off x="305925" y="219133"/>
            <a:ext cx="11582100" cy="116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cxnSp>
        <p:nvCxnSpPr>
          <p:cNvPr id="89" name="Google Shape;89;p13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3200315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2" type="body"/>
          </p:nvPr>
        </p:nvSpPr>
        <p:spPr>
          <a:xfrm>
            <a:off x="304792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3" type="body"/>
          </p:nvPr>
        </p:nvSpPr>
        <p:spPr>
          <a:xfrm>
            <a:off x="6095838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4" type="body"/>
          </p:nvPr>
        </p:nvSpPr>
        <p:spPr>
          <a:xfrm>
            <a:off x="8991360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5" type="subTitle"/>
          </p:nvPr>
        </p:nvSpPr>
        <p:spPr>
          <a:xfrm>
            <a:off x="305925" y="28317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13"/>
          <p:cNvSpPr txBox="1"/>
          <p:nvPr>
            <p:ph idx="6" type="subTitle"/>
          </p:nvPr>
        </p:nvSpPr>
        <p:spPr>
          <a:xfrm>
            <a:off x="3200315" y="28317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3"/>
          <p:cNvSpPr txBox="1"/>
          <p:nvPr>
            <p:ph idx="7" type="subTitle"/>
          </p:nvPr>
        </p:nvSpPr>
        <p:spPr>
          <a:xfrm>
            <a:off x="6095838" y="28317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13"/>
          <p:cNvSpPr txBox="1"/>
          <p:nvPr>
            <p:ph idx="8" type="subTitle"/>
          </p:nvPr>
        </p:nvSpPr>
        <p:spPr>
          <a:xfrm>
            <a:off x="8991360" y="2831700"/>
            <a:ext cx="25191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305925" y="219133"/>
            <a:ext cx="7389000" cy="2445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101" name="Google Shape;101;p14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304792" y="3264100"/>
            <a:ext cx="73890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2" type="subTitle"/>
          </p:nvPr>
        </p:nvSpPr>
        <p:spPr>
          <a:xfrm>
            <a:off x="304792" y="2397700"/>
            <a:ext cx="7389000" cy="866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5"/>
          <p:cNvSpPr txBox="1"/>
          <p:nvPr>
            <p:ph type="title"/>
          </p:nvPr>
        </p:nvSpPr>
        <p:spPr>
          <a:xfrm>
            <a:off x="305925" y="219133"/>
            <a:ext cx="11582100" cy="116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305925" y="4607934"/>
            <a:ext cx="54147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2" type="subTitle"/>
          </p:nvPr>
        </p:nvSpPr>
        <p:spPr>
          <a:xfrm>
            <a:off x="305925" y="4170467"/>
            <a:ext cx="54147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cxnSp>
        <p:nvCxnSpPr>
          <p:cNvPr id="109" name="Google Shape;109;p15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5"/>
          <p:cNvSpPr txBox="1"/>
          <p:nvPr>
            <p:ph idx="3" type="body"/>
          </p:nvPr>
        </p:nvSpPr>
        <p:spPr>
          <a:xfrm>
            <a:off x="6098071" y="4607934"/>
            <a:ext cx="54147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4" type="subTitle"/>
          </p:nvPr>
        </p:nvSpPr>
        <p:spPr>
          <a:xfrm>
            <a:off x="6098071" y="4170467"/>
            <a:ext cx="54147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6793852" y="1229567"/>
            <a:ext cx="4586700" cy="1673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6"/>
          <p:cNvSpPr txBox="1"/>
          <p:nvPr>
            <p:ph idx="2" type="body"/>
          </p:nvPr>
        </p:nvSpPr>
        <p:spPr>
          <a:xfrm>
            <a:off x="6793852" y="3734800"/>
            <a:ext cx="4586700" cy="1085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3" type="body"/>
          </p:nvPr>
        </p:nvSpPr>
        <p:spPr>
          <a:xfrm>
            <a:off x="6793852" y="5351433"/>
            <a:ext cx="4586700" cy="716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4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18" name="Google Shape;118;p16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305925" y="219133"/>
            <a:ext cx="11582100" cy="451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304792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2" type="body"/>
          </p:nvPr>
        </p:nvSpPr>
        <p:spPr>
          <a:xfrm>
            <a:off x="3200315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4" type="body"/>
          </p:nvPr>
        </p:nvSpPr>
        <p:spPr>
          <a:xfrm>
            <a:off x="8991360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5" type="body"/>
          </p:nvPr>
        </p:nvSpPr>
        <p:spPr>
          <a:xfrm>
            <a:off x="6095838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27" name="Google Shape;127;p17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493454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2" type="body"/>
          </p:nvPr>
        </p:nvSpPr>
        <p:spPr>
          <a:xfrm>
            <a:off x="3388514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3" type="body"/>
          </p:nvPr>
        </p:nvSpPr>
        <p:spPr>
          <a:xfrm>
            <a:off x="6284037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4" type="body"/>
          </p:nvPr>
        </p:nvSpPr>
        <p:spPr>
          <a:xfrm>
            <a:off x="9179559" y="5158333"/>
            <a:ext cx="2519100" cy="85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5" type="subTitle"/>
          </p:nvPr>
        </p:nvSpPr>
        <p:spPr>
          <a:xfrm>
            <a:off x="493454" y="660426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6" type="subTitle"/>
          </p:nvPr>
        </p:nvSpPr>
        <p:spPr>
          <a:xfrm>
            <a:off x="3388510" y="660426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7" type="subTitle"/>
          </p:nvPr>
        </p:nvSpPr>
        <p:spPr>
          <a:xfrm>
            <a:off x="6283566" y="660426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8" type="subTitle"/>
          </p:nvPr>
        </p:nvSpPr>
        <p:spPr>
          <a:xfrm>
            <a:off x="9178622" y="660426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9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39" name="Google Shape;139;p18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9"/>
          <p:cNvSpPr txBox="1"/>
          <p:nvPr>
            <p:ph idx="1" type="subTitle"/>
          </p:nvPr>
        </p:nvSpPr>
        <p:spPr>
          <a:xfrm>
            <a:off x="1942348" y="2387626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2" type="subTitle"/>
          </p:nvPr>
        </p:nvSpPr>
        <p:spPr>
          <a:xfrm>
            <a:off x="4837404" y="2387626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3" type="subTitle"/>
          </p:nvPr>
        </p:nvSpPr>
        <p:spPr>
          <a:xfrm>
            <a:off x="7732461" y="2387626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4" type="subTitle"/>
          </p:nvPr>
        </p:nvSpPr>
        <p:spPr>
          <a:xfrm>
            <a:off x="7732461" y="4313109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cxnSp>
        <p:nvCxnSpPr>
          <p:cNvPr id="146" name="Google Shape;146;p19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9"/>
          <p:cNvSpPr txBox="1"/>
          <p:nvPr>
            <p:ph idx="5" type="subTitle"/>
          </p:nvPr>
        </p:nvSpPr>
        <p:spPr>
          <a:xfrm>
            <a:off x="1942348" y="4313109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6" type="subTitle"/>
          </p:nvPr>
        </p:nvSpPr>
        <p:spPr>
          <a:xfrm>
            <a:off x="4837404" y="4313109"/>
            <a:ext cx="2519100" cy="145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type="title"/>
          </p:nvPr>
        </p:nvSpPr>
        <p:spPr>
          <a:xfrm>
            <a:off x="305925" y="442900"/>
            <a:ext cx="11582100" cy="116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200315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2" type="body"/>
          </p:nvPr>
        </p:nvSpPr>
        <p:spPr>
          <a:xfrm>
            <a:off x="304792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305925" y="442900"/>
            <a:ext cx="11582100" cy="116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5" name="Google Shape;155;p20"/>
          <p:cNvSpPr txBox="1"/>
          <p:nvPr>
            <p:ph idx="3" type="body"/>
          </p:nvPr>
        </p:nvSpPr>
        <p:spPr>
          <a:xfrm>
            <a:off x="6095838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4" type="body"/>
          </p:nvPr>
        </p:nvSpPr>
        <p:spPr>
          <a:xfrm>
            <a:off x="8991360" y="3264100"/>
            <a:ext cx="2519100" cy="269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5" type="subTitle"/>
          </p:nvPr>
        </p:nvSpPr>
        <p:spPr>
          <a:xfrm>
            <a:off x="6095838" y="2114167"/>
            <a:ext cx="5414700" cy="866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6" type="subTitle"/>
          </p:nvPr>
        </p:nvSpPr>
        <p:spPr>
          <a:xfrm>
            <a:off x="304792" y="2114167"/>
            <a:ext cx="5414700" cy="866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7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60" name="Google Shape;160;p20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300992" y="492833"/>
            <a:ext cx="11589600" cy="5753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5" name="Google Shape;165;p21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300992" y="492833"/>
            <a:ext cx="11589600" cy="5753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22"/>
          <p:cNvSpPr txBox="1"/>
          <p:nvPr>
            <p:ph idx="2"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0" name="Google Shape;170;p22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300992" y="1616467"/>
            <a:ext cx="11589600" cy="462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5" name="Google Shape;175;p23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3"/>
          <p:cNvCxnSpPr/>
          <p:nvPr/>
        </p:nvCxnSpPr>
        <p:spPr>
          <a:xfrm flipH="1" rot="10800000">
            <a:off x="300992" y="1616567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24"/>
          <p:cNvSpPr txBox="1"/>
          <p:nvPr>
            <p:ph type="title"/>
          </p:nvPr>
        </p:nvSpPr>
        <p:spPr>
          <a:xfrm>
            <a:off x="304792" y="887767"/>
            <a:ext cx="7671000" cy="304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0" name="Google Shape;180;p24"/>
          <p:cNvSpPr/>
          <p:nvPr>
            <p:ph idx="2" type="pic"/>
          </p:nvPr>
        </p:nvSpPr>
        <p:spPr>
          <a:xfrm>
            <a:off x="9035842" y="1356867"/>
            <a:ext cx="2110200" cy="21102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82" name="Google Shape;182;p24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9340651" y="1052067"/>
            <a:ext cx="2110200" cy="211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86" name="Google Shape;186;p25"/>
          <p:cNvSpPr txBox="1"/>
          <p:nvPr>
            <p:ph type="title"/>
          </p:nvPr>
        </p:nvSpPr>
        <p:spPr>
          <a:xfrm>
            <a:off x="304792" y="887767"/>
            <a:ext cx="7671000" cy="304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7" name="Google Shape;187;p25"/>
          <p:cNvSpPr/>
          <p:nvPr>
            <p:ph idx="2" type="pic"/>
          </p:nvPr>
        </p:nvSpPr>
        <p:spPr>
          <a:xfrm>
            <a:off x="9035842" y="1356867"/>
            <a:ext cx="2110200" cy="2110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8" name="Google Shape;188;p25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26"/>
          <p:cNvSpPr txBox="1"/>
          <p:nvPr>
            <p:ph type="title"/>
          </p:nvPr>
        </p:nvSpPr>
        <p:spPr>
          <a:xfrm>
            <a:off x="304792" y="2066100"/>
            <a:ext cx="10583700" cy="304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93" name="Google Shape;193;p26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6" name="Google Shape;196;p27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7"/>
          <p:cNvSpPr txBox="1"/>
          <p:nvPr>
            <p:ph type="title"/>
          </p:nvPr>
        </p:nvSpPr>
        <p:spPr>
          <a:xfrm>
            <a:off x="305925" y="442900"/>
            <a:ext cx="11582100" cy="116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0" name="Google Shape;200;p28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8"/>
          <p:cNvSpPr txBox="1"/>
          <p:nvPr>
            <p:ph type="title"/>
          </p:nvPr>
        </p:nvSpPr>
        <p:spPr>
          <a:xfrm>
            <a:off x="304792" y="2982200"/>
            <a:ext cx="4735200" cy="89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9"/>
          <p:cNvSpPr txBox="1"/>
          <p:nvPr>
            <p:ph type="title"/>
          </p:nvPr>
        </p:nvSpPr>
        <p:spPr>
          <a:xfrm>
            <a:off x="304792" y="2982200"/>
            <a:ext cx="4735200" cy="89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05" name="Google Shape;205;p29"/>
          <p:cNvSpPr txBox="1"/>
          <p:nvPr>
            <p:ph idx="1" type="subTitle"/>
          </p:nvPr>
        </p:nvSpPr>
        <p:spPr>
          <a:xfrm>
            <a:off x="6095838" y="1339600"/>
            <a:ext cx="5790900" cy="4178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6" name="Google Shape;206;p29"/>
          <p:cNvSpPr txBox="1"/>
          <p:nvPr>
            <p:ph idx="2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07" name="Google Shape;207;p29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30"/>
          <p:cNvSpPr txBox="1"/>
          <p:nvPr>
            <p:ph type="title"/>
          </p:nvPr>
        </p:nvSpPr>
        <p:spPr>
          <a:xfrm>
            <a:off x="304792" y="2982200"/>
            <a:ext cx="4735200" cy="89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11" name="Google Shape;211;p30"/>
          <p:cNvSpPr txBox="1"/>
          <p:nvPr>
            <p:ph idx="1" type="subTitle"/>
          </p:nvPr>
        </p:nvSpPr>
        <p:spPr>
          <a:xfrm>
            <a:off x="6095838" y="1339600"/>
            <a:ext cx="5790900" cy="4178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cxnSp>
        <p:nvCxnSpPr>
          <p:cNvPr id="212" name="Google Shape;212;p30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31"/>
          <p:cNvSpPr txBox="1"/>
          <p:nvPr>
            <p:ph type="title"/>
          </p:nvPr>
        </p:nvSpPr>
        <p:spPr>
          <a:xfrm>
            <a:off x="304792" y="2786363"/>
            <a:ext cx="4735200" cy="89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16" name="Google Shape;216;p31"/>
          <p:cNvSpPr txBox="1"/>
          <p:nvPr>
            <p:ph idx="1" type="subTitle"/>
          </p:nvPr>
        </p:nvSpPr>
        <p:spPr>
          <a:xfrm>
            <a:off x="8098817" y="1339600"/>
            <a:ext cx="3411600" cy="4178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2" type="subTitle"/>
          </p:nvPr>
        </p:nvSpPr>
        <p:spPr>
          <a:xfrm>
            <a:off x="5723447" y="1339600"/>
            <a:ext cx="2227800" cy="4178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700"/>
              <a:buNone/>
              <a:defRPr b="1"/>
            </a:lvl9pPr>
          </a:lstStyle>
          <a:p/>
        </p:txBody>
      </p:sp>
      <p:sp>
        <p:nvSpPr>
          <p:cNvPr id="218" name="Google Shape;218;p31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19" name="Google Shape;219;p31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32"/>
          <p:cNvSpPr txBox="1"/>
          <p:nvPr>
            <p:ph type="title"/>
          </p:nvPr>
        </p:nvSpPr>
        <p:spPr>
          <a:xfrm>
            <a:off x="305925" y="442900"/>
            <a:ext cx="11582100" cy="116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305925" y="1726600"/>
            <a:ext cx="4754700" cy="3829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4" name="Google Shape;224;p32"/>
          <p:cNvSpPr txBox="1"/>
          <p:nvPr>
            <p:ph idx="2" type="body"/>
          </p:nvPr>
        </p:nvSpPr>
        <p:spPr>
          <a:xfrm>
            <a:off x="6096971" y="1726600"/>
            <a:ext cx="4754700" cy="3829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5" name="Google Shape;225;p32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26" name="Google Shape;226;p32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type="title"/>
          </p:nvPr>
        </p:nvSpPr>
        <p:spPr>
          <a:xfrm>
            <a:off x="305925" y="442900"/>
            <a:ext cx="11582100" cy="116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05925" y="1726600"/>
            <a:ext cx="4754700" cy="3829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33"/>
          <p:cNvSpPr txBox="1"/>
          <p:nvPr>
            <p:ph idx="2" type="body"/>
          </p:nvPr>
        </p:nvSpPr>
        <p:spPr>
          <a:xfrm>
            <a:off x="6096971" y="1726600"/>
            <a:ext cx="4754700" cy="3829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32" name="Google Shape;232;p33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34"/>
          <p:cNvSpPr txBox="1"/>
          <p:nvPr>
            <p:ph idx="1" type="subTitle"/>
          </p:nvPr>
        </p:nvSpPr>
        <p:spPr>
          <a:xfrm>
            <a:off x="304792" y="219133"/>
            <a:ext cx="4685400" cy="57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36" name="Google Shape;236;p34"/>
          <p:cNvSpPr/>
          <p:nvPr>
            <p:ph idx="2" type="pic"/>
          </p:nvPr>
        </p:nvSpPr>
        <p:spPr>
          <a:xfrm>
            <a:off x="304792" y="2493600"/>
            <a:ext cx="2699100" cy="30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4"/>
          <p:cNvSpPr/>
          <p:nvPr>
            <p:ph idx="3" type="pic"/>
          </p:nvPr>
        </p:nvSpPr>
        <p:spPr>
          <a:xfrm>
            <a:off x="5153029" y="2493600"/>
            <a:ext cx="4749000" cy="30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4"/>
          <p:cNvSpPr/>
          <p:nvPr>
            <p:ph idx="4" type="pic"/>
          </p:nvPr>
        </p:nvSpPr>
        <p:spPr>
          <a:xfrm>
            <a:off x="10063332" y="2493600"/>
            <a:ext cx="1823700" cy="30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4"/>
          <p:cNvSpPr/>
          <p:nvPr>
            <p:ph idx="5" type="pic"/>
          </p:nvPr>
        </p:nvSpPr>
        <p:spPr>
          <a:xfrm>
            <a:off x="3166699" y="2493600"/>
            <a:ext cx="1823700" cy="30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 txBox="1"/>
          <p:nvPr>
            <p:ph idx="6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1" name="Google Shape;241;p34"/>
          <p:cNvSpPr txBox="1"/>
          <p:nvPr>
            <p:ph idx="7" type="body"/>
          </p:nvPr>
        </p:nvSpPr>
        <p:spPr>
          <a:xfrm>
            <a:off x="304792" y="791533"/>
            <a:ext cx="4685400" cy="119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42" name="Google Shape;242;p34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35"/>
          <p:cNvSpPr txBox="1"/>
          <p:nvPr>
            <p:ph idx="1" type="subTitle"/>
          </p:nvPr>
        </p:nvSpPr>
        <p:spPr>
          <a:xfrm>
            <a:off x="304792" y="219133"/>
            <a:ext cx="4685400" cy="57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46" name="Google Shape;246;p35"/>
          <p:cNvSpPr/>
          <p:nvPr>
            <p:ph idx="2" type="pic"/>
          </p:nvPr>
        </p:nvSpPr>
        <p:spPr>
          <a:xfrm>
            <a:off x="304792" y="2156200"/>
            <a:ext cx="3760200" cy="37602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5"/>
          <p:cNvSpPr/>
          <p:nvPr>
            <p:ph idx="3" type="pic"/>
          </p:nvPr>
        </p:nvSpPr>
        <p:spPr>
          <a:xfrm>
            <a:off x="4215621" y="2156200"/>
            <a:ext cx="3760200" cy="37602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5"/>
          <p:cNvSpPr/>
          <p:nvPr>
            <p:ph idx="4" type="pic"/>
          </p:nvPr>
        </p:nvSpPr>
        <p:spPr>
          <a:xfrm>
            <a:off x="8126450" y="2156200"/>
            <a:ext cx="3760200" cy="37602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idx="5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0" name="Google Shape;250;p35"/>
          <p:cNvSpPr txBox="1"/>
          <p:nvPr>
            <p:ph idx="6" type="body"/>
          </p:nvPr>
        </p:nvSpPr>
        <p:spPr>
          <a:xfrm>
            <a:off x="304792" y="791533"/>
            <a:ext cx="4685400" cy="119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51" name="Google Shape;251;p35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6"/>
          <p:cNvSpPr txBox="1"/>
          <p:nvPr>
            <p:ph idx="1" type="subTitle"/>
          </p:nvPr>
        </p:nvSpPr>
        <p:spPr>
          <a:xfrm>
            <a:off x="304792" y="219133"/>
            <a:ext cx="4685400" cy="57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55" name="Google Shape;255;p36"/>
          <p:cNvSpPr/>
          <p:nvPr>
            <p:ph idx="2" type="pic"/>
          </p:nvPr>
        </p:nvSpPr>
        <p:spPr>
          <a:xfrm>
            <a:off x="6177235" y="2156200"/>
            <a:ext cx="5709900" cy="37605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36"/>
          <p:cNvSpPr/>
          <p:nvPr>
            <p:ph idx="3" type="pic"/>
          </p:nvPr>
        </p:nvSpPr>
        <p:spPr>
          <a:xfrm>
            <a:off x="304792" y="2156200"/>
            <a:ext cx="5709900" cy="3760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36"/>
          <p:cNvSpPr txBox="1"/>
          <p:nvPr>
            <p:ph idx="4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8" name="Google Shape;258;p36"/>
          <p:cNvSpPr txBox="1"/>
          <p:nvPr>
            <p:ph idx="5" type="body"/>
          </p:nvPr>
        </p:nvSpPr>
        <p:spPr>
          <a:xfrm>
            <a:off x="304792" y="791533"/>
            <a:ext cx="4685400" cy="119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59" name="Google Shape;259;p36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/>
          <p:nvPr>
            <p:ph idx="2" type="pic"/>
          </p:nvPr>
        </p:nvSpPr>
        <p:spPr>
          <a:xfrm>
            <a:off x="4215621" y="219133"/>
            <a:ext cx="3760200" cy="5739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7"/>
          <p:cNvSpPr/>
          <p:nvPr>
            <p:ph idx="3" type="pic"/>
          </p:nvPr>
        </p:nvSpPr>
        <p:spPr>
          <a:xfrm>
            <a:off x="8126583" y="219133"/>
            <a:ext cx="3760200" cy="5739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7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37"/>
          <p:cNvSpPr txBox="1"/>
          <p:nvPr>
            <p:ph idx="1" type="subTitle"/>
          </p:nvPr>
        </p:nvSpPr>
        <p:spPr>
          <a:xfrm>
            <a:off x="304792" y="219133"/>
            <a:ext cx="3760200" cy="57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65" name="Google Shape;265;p37"/>
          <p:cNvSpPr txBox="1"/>
          <p:nvPr>
            <p:ph idx="4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6" name="Google Shape;266;p37"/>
          <p:cNvSpPr txBox="1"/>
          <p:nvPr>
            <p:ph idx="5" type="body"/>
          </p:nvPr>
        </p:nvSpPr>
        <p:spPr>
          <a:xfrm>
            <a:off x="304792" y="791533"/>
            <a:ext cx="2895000" cy="119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67" name="Google Shape;267;p37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title"/>
          </p:nvPr>
        </p:nvSpPr>
        <p:spPr>
          <a:xfrm>
            <a:off x="653649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70" name="Google Shape;270;p3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/>
          <p:nvPr>
            <p:ph idx="2" type="pic"/>
          </p:nvPr>
        </p:nvSpPr>
        <p:spPr>
          <a:xfrm>
            <a:off x="6093104" y="219133"/>
            <a:ext cx="5790600" cy="57393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39"/>
          <p:cNvSpPr txBox="1"/>
          <p:nvPr>
            <p:ph idx="1" type="subTitle"/>
          </p:nvPr>
        </p:nvSpPr>
        <p:spPr>
          <a:xfrm>
            <a:off x="304792" y="219133"/>
            <a:ext cx="3760200" cy="57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75" name="Google Shape;275;p39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6" name="Google Shape;276;p39"/>
          <p:cNvSpPr txBox="1"/>
          <p:nvPr>
            <p:ph idx="4" type="body"/>
          </p:nvPr>
        </p:nvSpPr>
        <p:spPr>
          <a:xfrm>
            <a:off x="304792" y="791533"/>
            <a:ext cx="2895000" cy="119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77" name="Google Shape;277;p39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/>
          <p:nvPr>
            <p:ph idx="2" type="pic"/>
          </p:nvPr>
        </p:nvSpPr>
        <p:spPr>
          <a:xfrm>
            <a:off x="4215621" y="219133"/>
            <a:ext cx="7668300" cy="57396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0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40"/>
          <p:cNvSpPr txBox="1"/>
          <p:nvPr>
            <p:ph idx="1" type="subTitle"/>
          </p:nvPr>
        </p:nvSpPr>
        <p:spPr>
          <a:xfrm>
            <a:off x="304792" y="4387033"/>
            <a:ext cx="3760200" cy="57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82" name="Google Shape;282;p40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4" type="body"/>
          </p:nvPr>
        </p:nvSpPr>
        <p:spPr>
          <a:xfrm>
            <a:off x="304792" y="4959433"/>
            <a:ext cx="2895000" cy="99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84" name="Google Shape;284;p40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/>
          <p:nvPr>
            <p:ph idx="2" type="pic"/>
          </p:nvPr>
        </p:nvSpPr>
        <p:spPr>
          <a:xfrm>
            <a:off x="4215621" y="219133"/>
            <a:ext cx="7668300" cy="57396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41"/>
          <p:cNvSpPr txBox="1"/>
          <p:nvPr>
            <p:ph idx="3" type="body"/>
          </p:nvPr>
        </p:nvSpPr>
        <p:spPr>
          <a:xfrm>
            <a:off x="304792" y="4959433"/>
            <a:ext cx="2895000" cy="99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90" name="Google Shape;290;p41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1"/>
          <p:cNvSpPr txBox="1"/>
          <p:nvPr>
            <p:ph type="title"/>
          </p:nvPr>
        </p:nvSpPr>
        <p:spPr>
          <a:xfrm>
            <a:off x="304792" y="219133"/>
            <a:ext cx="3560400" cy="383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94" name="Google Shape;294;p42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5" name="Google Shape;295;p4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/>
          <p:nvPr/>
        </p:nvSpPr>
        <p:spPr>
          <a:xfrm>
            <a:off x="6095838" y="-167"/>
            <a:ext cx="6095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"/>
          <p:cNvSpPr txBox="1"/>
          <p:nvPr>
            <p:ph type="title"/>
          </p:nvPr>
        </p:nvSpPr>
        <p:spPr>
          <a:xfrm>
            <a:off x="353991" y="1644233"/>
            <a:ext cx="53934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99" name="Google Shape;299;p43"/>
          <p:cNvSpPr txBox="1"/>
          <p:nvPr>
            <p:ph idx="1" type="subTitle"/>
          </p:nvPr>
        </p:nvSpPr>
        <p:spPr>
          <a:xfrm>
            <a:off x="353991" y="3737433"/>
            <a:ext cx="5393400" cy="164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0" name="Google Shape;300;p43"/>
          <p:cNvSpPr txBox="1"/>
          <p:nvPr>
            <p:ph idx="2" type="body"/>
          </p:nvPr>
        </p:nvSpPr>
        <p:spPr>
          <a:xfrm>
            <a:off x="6585824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4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4" name="Google Shape;304;p44"/>
          <p:cNvSpPr txBox="1"/>
          <p:nvPr>
            <p:ph idx="1" type="body"/>
          </p:nvPr>
        </p:nvSpPr>
        <p:spPr>
          <a:xfrm>
            <a:off x="415589" y="1536633"/>
            <a:ext cx="59649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44"/>
          <p:cNvSpPr/>
          <p:nvPr>
            <p:ph idx="2" type="pic"/>
          </p:nvPr>
        </p:nvSpPr>
        <p:spPr>
          <a:xfrm>
            <a:off x="6655855" y="1537033"/>
            <a:ext cx="51204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45"/>
          <p:cNvSpPr/>
          <p:nvPr>
            <p:ph idx="2" type="pic"/>
          </p:nvPr>
        </p:nvSpPr>
        <p:spPr>
          <a:xfrm>
            <a:off x="6177235" y="1594733"/>
            <a:ext cx="5709900" cy="2348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5"/>
          <p:cNvSpPr/>
          <p:nvPr>
            <p:ph idx="3" type="pic"/>
          </p:nvPr>
        </p:nvSpPr>
        <p:spPr>
          <a:xfrm>
            <a:off x="304792" y="1594733"/>
            <a:ext cx="5709900" cy="2348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11" name="Google Shape;311;p45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45"/>
          <p:cNvSpPr txBox="1"/>
          <p:nvPr>
            <p:ph type="title"/>
          </p:nvPr>
        </p:nvSpPr>
        <p:spPr>
          <a:xfrm>
            <a:off x="305925" y="219133"/>
            <a:ext cx="11582100" cy="116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3" name="Google Shape;313;p45"/>
          <p:cNvSpPr txBox="1"/>
          <p:nvPr>
            <p:ph idx="1" type="body"/>
          </p:nvPr>
        </p:nvSpPr>
        <p:spPr>
          <a:xfrm>
            <a:off x="305925" y="4607934"/>
            <a:ext cx="54147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5"/>
          <p:cNvSpPr txBox="1"/>
          <p:nvPr>
            <p:ph idx="4" type="subTitle"/>
          </p:nvPr>
        </p:nvSpPr>
        <p:spPr>
          <a:xfrm>
            <a:off x="305925" y="4170467"/>
            <a:ext cx="54147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315" name="Google Shape;315;p45"/>
          <p:cNvSpPr txBox="1"/>
          <p:nvPr>
            <p:ph idx="5" type="body"/>
          </p:nvPr>
        </p:nvSpPr>
        <p:spPr>
          <a:xfrm>
            <a:off x="6177235" y="4607934"/>
            <a:ext cx="54147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5"/>
          <p:cNvSpPr txBox="1"/>
          <p:nvPr>
            <p:ph idx="6" type="subTitle"/>
          </p:nvPr>
        </p:nvSpPr>
        <p:spPr>
          <a:xfrm>
            <a:off x="6177235" y="4170467"/>
            <a:ext cx="54147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9" name="Google Shape;319;p46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46"/>
          <p:cNvSpPr txBox="1"/>
          <p:nvPr>
            <p:ph type="title"/>
          </p:nvPr>
        </p:nvSpPr>
        <p:spPr>
          <a:xfrm>
            <a:off x="305925" y="219133"/>
            <a:ext cx="11582100" cy="116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1" name="Google Shape;321;p46"/>
          <p:cNvSpPr/>
          <p:nvPr>
            <p:ph idx="2" type="pic"/>
          </p:nvPr>
        </p:nvSpPr>
        <p:spPr>
          <a:xfrm>
            <a:off x="304792" y="1594733"/>
            <a:ext cx="3760200" cy="23481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6"/>
          <p:cNvSpPr/>
          <p:nvPr>
            <p:ph idx="3" type="pic"/>
          </p:nvPr>
        </p:nvSpPr>
        <p:spPr>
          <a:xfrm>
            <a:off x="4215621" y="1594733"/>
            <a:ext cx="3760200" cy="2348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6"/>
          <p:cNvSpPr/>
          <p:nvPr>
            <p:ph idx="4" type="pic"/>
          </p:nvPr>
        </p:nvSpPr>
        <p:spPr>
          <a:xfrm>
            <a:off x="8126450" y="1594733"/>
            <a:ext cx="3760200" cy="2348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6"/>
          <p:cNvSpPr txBox="1"/>
          <p:nvPr>
            <p:ph idx="1" type="body"/>
          </p:nvPr>
        </p:nvSpPr>
        <p:spPr>
          <a:xfrm>
            <a:off x="305925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46"/>
          <p:cNvSpPr txBox="1"/>
          <p:nvPr>
            <p:ph idx="5" type="subTitle"/>
          </p:nvPr>
        </p:nvSpPr>
        <p:spPr>
          <a:xfrm>
            <a:off x="305925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326" name="Google Shape;326;p46"/>
          <p:cNvSpPr txBox="1"/>
          <p:nvPr>
            <p:ph idx="6" type="body"/>
          </p:nvPr>
        </p:nvSpPr>
        <p:spPr>
          <a:xfrm>
            <a:off x="4207621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6"/>
          <p:cNvSpPr txBox="1"/>
          <p:nvPr>
            <p:ph idx="7" type="subTitle"/>
          </p:nvPr>
        </p:nvSpPr>
        <p:spPr>
          <a:xfrm>
            <a:off x="4207621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328" name="Google Shape;328;p46"/>
          <p:cNvSpPr txBox="1"/>
          <p:nvPr>
            <p:ph idx="8" type="body"/>
          </p:nvPr>
        </p:nvSpPr>
        <p:spPr>
          <a:xfrm>
            <a:off x="8109317" y="4607934"/>
            <a:ext cx="3778800" cy="140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6"/>
          <p:cNvSpPr txBox="1"/>
          <p:nvPr>
            <p:ph idx="9" type="subTitle"/>
          </p:nvPr>
        </p:nvSpPr>
        <p:spPr>
          <a:xfrm>
            <a:off x="8109317" y="4170467"/>
            <a:ext cx="37788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/>
          <p:nvPr>
            <p:ph idx="2" type="pic"/>
          </p:nvPr>
        </p:nvSpPr>
        <p:spPr>
          <a:xfrm>
            <a:off x="304792" y="219133"/>
            <a:ext cx="11578800" cy="57396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7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47"/>
          <p:cNvSpPr txBox="1"/>
          <p:nvPr>
            <p:ph idx="1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334" name="Google Shape;334;p47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/>
          <p:nvPr>
            <p:ph idx="2" type="pic"/>
          </p:nvPr>
        </p:nvSpPr>
        <p:spPr>
          <a:xfrm>
            <a:off x="304792" y="219133"/>
            <a:ext cx="11578800" cy="57396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8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8" name="Google Shape;338;p48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1" name="Google Shape;341;p49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49"/>
          <p:cNvSpPr txBox="1"/>
          <p:nvPr>
            <p:ph type="title"/>
          </p:nvPr>
        </p:nvSpPr>
        <p:spPr>
          <a:xfrm>
            <a:off x="305925" y="219133"/>
            <a:ext cx="11582100" cy="1166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43" name="Google Shape;343;p49"/>
          <p:cNvSpPr/>
          <p:nvPr>
            <p:ph idx="2" type="pic"/>
          </p:nvPr>
        </p:nvSpPr>
        <p:spPr>
          <a:xfrm>
            <a:off x="304792" y="3464033"/>
            <a:ext cx="2699100" cy="249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9"/>
          <p:cNvSpPr/>
          <p:nvPr>
            <p:ph idx="3" type="pic"/>
          </p:nvPr>
        </p:nvSpPr>
        <p:spPr>
          <a:xfrm>
            <a:off x="5153029" y="3464033"/>
            <a:ext cx="4749000" cy="249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49"/>
          <p:cNvSpPr/>
          <p:nvPr>
            <p:ph idx="4" type="pic"/>
          </p:nvPr>
        </p:nvSpPr>
        <p:spPr>
          <a:xfrm>
            <a:off x="10063332" y="3464033"/>
            <a:ext cx="1823700" cy="249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9"/>
          <p:cNvSpPr/>
          <p:nvPr>
            <p:ph idx="5" type="pic"/>
          </p:nvPr>
        </p:nvSpPr>
        <p:spPr>
          <a:xfrm>
            <a:off x="3166699" y="3464033"/>
            <a:ext cx="1823700" cy="249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9"/>
          <p:cNvSpPr/>
          <p:nvPr>
            <p:ph idx="6" type="pic"/>
          </p:nvPr>
        </p:nvSpPr>
        <p:spPr>
          <a:xfrm>
            <a:off x="304792" y="1385133"/>
            <a:ext cx="1338000" cy="19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9"/>
          <p:cNvSpPr/>
          <p:nvPr>
            <p:ph idx="7" type="pic"/>
          </p:nvPr>
        </p:nvSpPr>
        <p:spPr>
          <a:xfrm>
            <a:off x="8994394" y="1385133"/>
            <a:ext cx="2892600" cy="19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9"/>
          <p:cNvSpPr/>
          <p:nvPr>
            <p:ph idx="8" type="pic"/>
          </p:nvPr>
        </p:nvSpPr>
        <p:spPr>
          <a:xfrm>
            <a:off x="1805485" y="1385133"/>
            <a:ext cx="2003100" cy="19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9"/>
          <p:cNvSpPr/>
          <p:nvPr>
            <p:ph idx="9" type="pic"/>
          </p:nvPr>
        </p:nvSpPr>
        <p:spPr>
          <a:xfrm>
            <a:off x="3975107" y="1385133"/>
            <a:ext cx="2928300" cy="19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9"/>
          <p:cNvSpPr/>
          <p:nvPr>
            <p:ph idx="13" type="pic"/>
          </p:nvPr>
        </p:nvSpPr>
        <p:spPr>
          <a:xfrm>
            <a:off x="7081150" y="1385133"/>
            <a:ext cx="1735500" cy="193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50"/>
          <p:cNvSpPr/>
          <p:nvPr>
            <p:ph idx="2" type="pic"/>
          </p:nvPr>
        </p:nvSpPr>
        <p:spPr>
          <a:xfrm>
            <a:off x="304792" y="219133"/>
            <a:ext cx="7668300" cy="57396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0"/>
          <p:cNvSpPr txBox="1"/>
          <p:nvPr>
            <p:ph type="title"/>
          </p:nvPr>
        </p:nvSpPr>
        <p:spPr>
          <a:xfrm>
            <a:off x="8126583" y="429167"/>
            <a:ext cx="3760200" cy="2027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6" name="Google Shape;356;p50"/>
          <p:cNvSpPr txBox="1"/>
          <p:nvPr>
            <p:ph idx="1" type="subTitle"/>
          </p:nvPr>
        </p:nvSpPr>
        <p:spPr>
          <a:xfrm>
            <a:off x="8126583" y="2456767"/>
            <a:ext cx="3760200" cy="3501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357" name="Google Shape;357;p50"/>
          <p:cNvSpPr txBox="1"/>
          <p:nvPr>
            <p:ph idx="3" type="body"/>
          </p:nvPr>
        </p:nvSpPr>
        <p:spPr>
          <a:xfrm>
            <a:off x="304792" y="6238667"/>
            <a:ext cx="5790900" cy="4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358" name="Google Shape;358;p50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1" name="Google Shape;361;p51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1"/>
          <p:cNvSpPr txBox="1"/>
          <p:nvPr>
            <p:ph hasCustomPrompt="1" type="title"/>
          </p:nvPr>
        </p:nvSpPr>
        <p:spPr>
          <a:xfrm>
            <a:off x="300992" y="1616467"/>
            <a:ext cx="11475300" cy="5854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0"/>
              <a:buNone/>
              <a:defRPr sz="40000"/>
            </a:lvl9pPr>
          </a:lstStyle>
          <a:p>
            <a:r>
              <a:t>xx%</a:t>
            </a:r>
          </a:p>
        </p:txBody>
      </p:sp>
      <p:cxnSp>
        <p:nvCxnSpPr>
          <p:cNvPr id="363" name="Google Shape;363;p51"/>
          <p:cNvCxnSpPr/>
          <p:nvPr/>
        </p:nvCxnSpPr>
        <p:spPr>
          <a:xfrm flipH="1" rot="10800000">
            <a:off x="300992" y="1616567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1"/>
          <p:cNvSpPr txBox="1"/>
          <p:nvPr>
            <p:ph idx="1" type="body"/>
          </p:nvPr>
        </p:nvSpPr>
        <p:spPr>
          <a:xfrm>
            <a:off x="304792" y="770867"/>
            <a:ext cx="11589600" cy="85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7" name="Google Shape;367;p52"/>
          <p:cNvCxnSpPr/>
          <p:nvPr/>
        </p:nvCxnSpPr>
        <p:spPr>
          <a:xfrm flipH="1" rot="10800000">
            <a:off x="300992" y="6238700"/>
            <a:ext cx="115896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52"/>
          <p:cNvSpPr txBox="1"/>
          <p:nvPr>
            <p:ph idx="1" type="body"/>
          </p:nvPr>
        </p:nvSpPr>
        <p:spPr>
          <a:xfrm>
            <a:off x="304792" y="4959433"/>
            <a:ext cx="5256600" cy="999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"/>
          <p:cNvSpPr txBox="1"/>
          <p:nvPr>
            <p:ph idx="10" type="dt"/>
          </p:nvPr>
        </p:nvSpPr>
        <p:spPr>
          <a:xfrm>
            <a:off x="304792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72" name="Google Shape;372;p54"/>
          <p:cNvSpPr txBox="1"/>
          <p:nvPr>
            <p:ph idx="11" type="ftr"/>
          </p:nvPr>
        </p:nvSpPr>
        <p:spPr>
          <a:xfrm>
            <a:off x="2082744" y="4237567"/>
            <a:ext cx="1930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73" name="Google Shape;373;p54"/>
          <p:cNvSpPr txBox="1"/>
          <p:nvPr>
            <p:ph idx="12" type="sldNum"/>
          </p:nvPr>
        </p:nvSpPr>
        <p:spPr>
          <a:xfrm>
            <a:off x="4368684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5.xml"/><Relationship Id="rId4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46.xml"/><Relationship Id="rId46" Type="http://schemas.openxmlformats.org/officeDocument/2006/relationships/slideLayout" Target="../slideLayouts/slideLayout49.xml"/><Relationship Id="rId45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48" Type="http://schemas.openxmlformats.org/officeDocument/2006/relationships/slideLayout" Target="../slideLayouts/slideLayout51.xml"/><Relationship Id="rId47" Type="http://schemas.openxmlformats.org/officeDocument/2006/relationships/slideLayout" Target="../slideLayouts/slideLayout50.xml"/><Relationship Id="rId49" Type="http://schemas.openxmlformats.org/officeDocument/2006/relationships/slideLayout" Target="../slideLayouts/slideLayout5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38.xml"/><Relationship Id="rId34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42.xml"/><Relationship Id="rId38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2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owun Batang"/>
              <a:buNone/>
              <a:defRPr sz="4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Gowun Batang"/>
              <a:buNone/>
              <a:defRPr sz="37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15589" y="3930433"/>
            <a:ext cx="11360400" cy="21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●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○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■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●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○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■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●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○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wun Batang"/>
              <a:buChar char="■"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9902103" y="6238667"/>
            <a:ext cx="2003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r">
              <a:buNone/>
              <a:defRPr sz="1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2">
          <p15:clr>
            <a:srgbClr val="E46962"/>
          </p15:clr>
        </p15:guide>
        <p15:guide id="2" pos="7488">
          <p15:clr>
            <a:srgbClr val="E46962"/>
          </p15:clr>
        </p15:guide>
        <p15:guide id="3" orient="horz" pos="13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11" Type="http://schemas.openxmlformats.org/officeDocument/2006/relationships/image" Target="../media/image1.png"/><Relationship Id="rId10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12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12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12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Relationship Id="rId4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258"/>
          </a:solidFill>
          <a:ln cap="flat" cmpd="sng" w="9525">
            <a:solidFill>
              <a:srgbClr val="0027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55"/>
          <p:cNvSpPr/>
          <p:nvPr/>
        </p:nvSpPr>
        <p:spPr>
          <a:xfrm>
            <a:off x="777240" y="14173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rPr>
              <a:t>M.S. THESIS DEFENSE</a:t>
            </a:r>
            <a:endParaRPr b="0" i="0" sz="1300" u="none" cap="none" strike="noStrike">
              <a:solidFill>
                <a:srgbClr val="2E3A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55"/>
          <p:cNvSpPr/>
          <p:nvPr/>
        </p:nvSpPr>
        <p:spPr>
          <a:xfrm>
            <a:off x="731520" y="1874520"/>
            <a:ext cx="8778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Toward Passwordless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Encryption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777240" y="3977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rPr>
              <a:t>Isaac Henry Teuscher</a:t>
            </a:r>
            <a:endParaRPr b="0" i="0" sz="2100" u="none" cap="none" strike="noStrike">
              <a:solidFill>
                <a:srgbClr val="2E3A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55"/>
          <p:cNvSpPr/>
          <p:nvPr/>
        </p:nvSpPr>
        <p:spPr>
          <a:xfrm>
            <a:off x="777240" y="449884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Committee:  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Dr. Ben Schooley (Chair)   ·   Dr. Derek Hansen   ·   Dr. Albert Tay</a:t>
            </a:r>
            <a:endParaRPr b="0" i="0" sz="1400" u="none" cap="none" strike="noStrike">
              <a:solidFill>
                <a:srgbClr val="2E3A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55"/>
          <p:cNvSpPr/>
          <p:nvPr/>
        </p:nvSpPr>
        <p:spPr>
          <a:xfrm>
            <a:off x="777240" y="598932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Department of Electrical &amp; Computer Engineering   ·   Brigham Young University   ·   June 8, 2026</a:t>
            </a:r>
            <a:endParaRPr b="0" i="0" sz="1250" u="none" cap="none" strike="noStrike">
              <a:solidFill>
                <a:srgbClr val="2E3A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3718" y="1787067"/>
            <a:ext cx="3780566" cy="212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5842" y="4177250"/>
            <a:ext cx="2596311" cy="100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79327" y="4215863"/>
            <a:ext cx="1423095" cy="931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Overview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548640" y="1783080"/>
            <a:ext cx="11094300" cy="74970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6"/>
          <p:cNvSpPr/>
          <p:nvPr/>
        </p:nvSpPr>
        <p:spPr>
          <a:xfrm>
            <a:off x="841248" y="1892808"/>
            <a:ext cx="530400" cy="5304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6"/>
          <p:cNvSpPr/>
          <p:nvPr/>
        </p:nvSpPr>
        <p:spPr>
          <a:xfrm>
            <a:off x="841248" y="1892808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56"/>
          <p:cNvSpPr/>
          <p:nvPr/>
        </p:nvSpPr>
        <p:spPr>
          <a:xfrm>
            <a:off x="1645920" y="1783080"/>
            <a:ext cx="228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6"/>
          <p:cNvSpPr/>
          <p:nvPr/>
        </p:nvSpPr>
        <p:spPr>
          <a:xfrm>
            <a:off x="3977640" y="1783080"/>
            <a:ext cx="5806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Sensitive documents, MFT breaches at scale, and why current protection fails.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6"/>
          <p:cNvSpPr/>
          <p:nvPr/>
        </p:nvSpPr>
        <p:spPr>
          <a:xfrm>
            <a:off x="9859975" y="1783080"/>
            <a:ext cx="1463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Ch. 1</a:t>
            </a:r>
            <a:r>
              <a:rPr i="1" lang="en-US" sz="125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6"/>
          <p:cNvSpPr/>
          <p:nvPr/>
        </p:nvSpPr>
        <p:spPr>
          <a:xfrm>
            <a:off x="548640" y="2651760"/>
            <a:ext cx="11094300" cy="749700"/>
          </a:xfrm>
          <a:prstGeom prst="roundRect">
            <a:avLst>
              <a:gd fmla="val 7317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6"/>
          <p:cNvSpPr/>
          <p:nvPr/>
        </p:nvSpPr>
        <p:spPr>
          <a:xfrm>
            <a:off x="841248" y="2761488"/>
            <a:ext cx="530400" cy="5304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6"/>
          <p:cNvSpPr/>
          <p:nvPr/>
        </p:nvSpPr>
        <p:spPr>
          <a:xfrm>
            <a:off x="841248" y="2761488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6"/>
          <p:cNvSpPr/>
          <p:nvPr/>
        </p:nvSpPr>
        <p:spPr>
          <a:xfrm>
            <a:off x="1645920" y="2651760"/>
            <a:ext cx="228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6"/>
          <p:cNvSpPr/>
          <p:nvPr/>
        </p:nvSpPr>
        <p:spPr>
          <a:xfrm>
            <a:off x="3977640" y="2651760"/>
            <a:ext cx="5806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Encryption &amp; passwordless authentication building blocks</a:t>
            </a: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ramework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and evaluation</a:t>
            </a: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showing no current method </a:t>
            </a: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provides all benefits.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6"/>
          <p:cNvSpPr/>
          <p:nvPr/>
        </p:nvSpPr>
        <p:spPr>
          <a:xfrm>
            <a:off x="9859975" y="2651760"/>
            <a:ext cx="1463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Ch. 2</a:t>
            </a:r>
            <a:r>
              <a:rPr i="1" lang="en-US" sz="125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6"/>
          <p:cNvSpPr/>
          <p:nvPr/>
        </p:nvSpPr>
        <p:spPr>
          <a:xfrm>
            <a:off x="548640" y="3520440"/>
            <a:ext cx="11094300" cy="74970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6"/>
          <p:cNvSpPr/>
          <p:nvPr/>
        </p:nvSpPr>
        <p:spPr>
          <a:xfrm>
            <a:off x="841248" y="3630168"/>
            <a:ext cx="530400" cy="5304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6"/>
          <p:cNvSpPr/>
          <p:nvPr/>
        </p:nvSpPr>
        <p:spPr>
          <a:xfrm>
            <a:off x="841248" y="3630168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6"/>
          <p:cNvSpPr/>
          <p:nvPr/>
        </p:nvSpPr>
        <p:spPr>
          <a:xfrm>
            <a:off x="1645920" y="3520440"/>
            <a:ext cx="228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Design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6"/>
          <p:cNvSpPr/>
          <p:nvPr/>
        </p:nvSpPr>
        <p:spPr>
          <a:xfrm>
            <a:off x="3977640" y="3520440"/>
            <a:ext cx="5806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Novel system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age + WebAuthn PRF </a:t>
            </a: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together in a working prototype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6"/>
          <p:cNvSpPr/>
          <p:nvPr/>
        </p:nvSpPr>
        <p:spPr>
          <a:xfrm>
            <a:off x="9859975" y="3520440"/>
            <a:ext cx="1463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Ch. 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6"/>
          <p:cNvSpPr/>
          <p:nvPr/>
        </p:nvSpPr>
        <p:spPr>
          <a:xfrm>
            <a:off x="548640" y="4389120"/>
            <a:ext cx="11094300" cy="749700"/>
          </a:xfrm>
          <a:prstGeom prst="roundRect">
            <a:avLst>
              <a:gd fmla="val 7317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6"/>
          <p:cNvSpPr/>
          <p:nvPr/>
        </p:nvSpPr>
        <p:spPr>
          <a:xfrm>
            <a:off x="841248" y="4498848"/>
            <a:ext cx="530400" cy="5304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6"/>
          <p:cNvSpPr/>
          <p:nvPr/>
        </p:nvSpPr>
        <p:spPr>
          <a:xfrm>
            <a:off x="841248" y="4498848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6"/>
          <p:cNvSpPr/>
          <p:nvPr/>
        </p:nvSpPr>
        <p:spPr>
          <a:xfrm>
            <a:off x="1645920" y="4389120"/>
            <a:ext cx="228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Study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6"/>
          <p:cNvSpPr/>
          <p:nvPr/>
        </p:nvSpPr>
        <p:spPr>
          <a:xfrm>
            <a:off x="3977640" y="4389120"/>
            <a:ext cx="5806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ounterbalanced within-subjects evaluation of the </a:t>
            </a: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new system </a:t>
            </a:r>
            <a:b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against Adobe Acrobat (N = 21).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6"/>
          <p:cNvSpPr/>
          <p:nvPr/>
        </p:nvSpPr>
        <p:spPr>
          <a:xfrm>
            <a:off x="9859975" y="4389120"/>
            <a:ext cx="1463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Ch.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6"/>
          <p:cNvSpPr/>
          <p:nvPr/>
        </p:nvSpPr>
        <p:spPr>
          <a:xfrm>
            <a:off x="548640" y="5257800"/>
            <a:ext cx="11094300" cy="74970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6"/>
          <p:cNvSpPr/>
          <p:nvPr/>
        </p:nvSpPr>
        <p:spPr>
          <a:xfrm>
            <a:off x="841248" y="5367528"/>
            <a:ext cx="530400" cy="5304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6"/>
          <p:cNvSpPr/>
          <p:nvPr/>
        </p:nvSpPr>
        <p:spPr>
          <a:xfrm>
            <a:off x="841248" y="5367528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6"/>
          <p:cNvSpPr/>
          <p:nvPr/>
        </p:nvSpPr>
        <p:spPr>
          <a:xfrm>
            <a:off x="1645920" y="5257800"/>
            <a:ext cx="2286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6"/>
          <p:cNvSpPr/>
          <p:nvPr/>
        </p:nvSpPr>
        <p:spPr>
          <a:xfrm>
            <a:off x="3977640" y="5257800"/>
            <a:ext cx="5806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Usability, acceptance, and adoption findings</a:t>
            </a:r>
            <a:r>
              <a:rPr lang="en-US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 Takeaways and future research.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6"/>
          <p:cNvSpPr/>
          <p:nvPr/>
        </p:nvSpPr>
        <p:spPr>
          <a:xfrm>
            <a:off x="9859975" y="5257800"/>
            <a:ext cx="1463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Ch. 7</a:t>
            </a:r>
            <a:r>
              <a:rPr i="1" lang="en-US" sz="125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esearch questions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7"/>
          <p:cNvSpPr/>
          <p:nvPr/>
        </p:nvSpPr>
        <p:spPr>
          <a:xfrm>
            <a:off x="385403" y="1981430"/>
            <a:ext cx="3612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7"/>
          <p:cNvSpPr/>
          <p:nvPr/>
        </p:nvSpPr>
        <p:spPr>
          <a:xfrm>
            <a:off x="751163" y="2301470"/>
            <a:ext cx="2880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R1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7"/>
          <p:cNvSpPr/>
          <p:nvPr/>
        </p:nvSpPr>
        <p:spPr>
          <a:xfrm>
            <a:off x="769451" y="3124430"/>
            <a:ext cx="288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</a:t>
            </a:r>
            <a:r>
              <a:rPr b="1" i="0" lang="en-US" sz="17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57"/>
          <p:cNvCxnSpPr/>
          <p:nvPr/>
        </p:nvCxnSpPr>
        <p:spPr>
          <a:xfrm>
            <a:off x="769451" y="3609062"/>
            <a:ext cx="2843700" cy="0"/>
          </a:xfrm>
          <a:prstGeom prst="straightConnector1">
            <a:avLst/>
          </a:prstGeom>
          <a:noFill/>
          <a:ln cap="flat" cmpd="sng" w="12700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57"/>
          <p:cNvSpPr/>
          <p:nvPr/>
        </p:nvSpPr>
        <p:spPr>
          <a:xfrm>
            <a:off x="769451" y="3764510"/>
            <a:ext cx="2862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What are the security, usability, and deployability limitations of current document encryption methods?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7"/>
          <p:cNvSpPr/>
          <p:nvPr/>
        </p:nvSpPr>
        <p:spPr>
          <a:xfrm>
            <a:off x="4289891" y="1981430"/>
            <a:ext cx="3612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7"/>
          <p:cNvSpPr/>
          <p:nvPr/>
        </p:nvSpPr>
        <p:spPr>
          <a:xfrm>
            <a:off x="4655650" y="2301470"/>
            <a:ext cx="2880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R2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7"/>
          <p:cNvSpPr/>
          <p:nvPr/>
        </p:nvSpPr>
        <p:spPr>
          <a:xfrm>
            <a:off x="4673938" y="3124430"/>
            <a:ext cx="288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Novel </a:t>
            </a:r>
            <a:r>
              <a:rPr b="1" i="0" lang="en-US" sz="17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Design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57"/>
          <p:cNvCxnSpPr/>
          <p:nvPr/>
        </p:nvCxnSpPr>
        <p:spPr>
          <a:xfrm>
            <a:off x="4673938" y="3609062"/>
            <a:ext cx="2843700" cy="0"/>
          </a:xfrm>
          <a:prstGeom prst="straightConnector1">
            <a:avLst/>
          </a:prstGeom>
          <a:noFill/>
          <a:ln cap="flat" cmpd="sng" w="12700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57"/>
          <p:cNvSpPr/>
          <p:nvPr/>
        </p:nvSpPr>
        <p:spPr>
          <a:xfrm>
            <a:off x="4673938" y="3764510"/>
            <a:ext cx="2862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How can open-source tools be used to design a passwordless, non-proprietary, per-file 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document protection system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600">
              <a:solidFill>
                <a:srgbClr val="2E3A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rgbClr val="2E3A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7"/>
          <p:cNvSpPr/>
          <p:nvPr/>
        </p:nvSpPr>
        <p:spPr>
          <a:xfrm>
            <a:off x="8194379" y="1981430"/>
            <a:ext cx="3612000" cy="3200400"/>
          </a:xfrm>
          <a:prstGeom prst="roundRect">
            <a:avLst>
              <a:gd fmla="val 2857" name="adj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7"/>
          <p:cNvSpPr/>
          <p:nvPr/>
        </p:nvSpPr>
        <p:spPr>
          <a:xfrm>
            <a:off x="8560139" y="2301470"/>
            <a:ext cx="2880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R3</a:t>
            </a:r>
            <a:endParaRPr b="0" i="0" sz="4000" u="none" cap="none" strike="noStrike">
              <a:solidFill>
                <a:srgbClr val="2236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7"/>
          <p:cNvSpPr/>
          <p:nvPr/>
        </p:nvSpPr>
        <p:spPr>
          <a:xfrm>
            <a:off x="8578427" y="3124430"/>
            <a:ext cx="288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Usability + User Acceptance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57"/>
          <p:cNvCxnSpPr/>
          <p:nvPr/>
        </p:nvCxnSpPr>
        <p:spPr>
          <a:xfrm>
            <a:off x="8578427" y="3609062"/>
            <a:ext cx="2843700" cy="0"/>
          </a:xfrm>
          <a:prstGeom prst="straightConnector1">
            <a:avLst/>
          </a:prstGeom>
          <a:noFill/>
          <a:ln cap="flat" cmpd="sng" w="12700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57"/>
          <p:cNvSpPr/>
          <p:nvPr/>
        </p:nvSpPr>
        <p:spPr>
          <a:xfrm>
            <a:off x="8578427" y="3764510"/>
            <a:ext cx="2862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What is the 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usability and 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user acceptance of a passwordless document encryption system?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8"/>
          <p:cNvSpPr/>
          <p:nvPr/>
        </p:nvSpPr>
        <p:spPr>
          <a:xfrm>
            <a:off x="7680960" y="365760"/>
            <a:ext cx="42978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3A54"/>
              </a:buClr>
              <a:buSzPts val="30000"/>
              <a:buFont typeface="Trebuchet MS"/>
              <a:buNone/>
            </a:pPr>
            <a:r>
              <a:rPr b="1" i="0" lang="en-US" sz="30000" u="none" cap="none" strike="noStrike">
                <a:solidFill>
                  <a:srgbClr val="263A54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3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8"/>
          <p:cNvSpPr/>
          <p:nvPr/>
        </p:nvSpPr>
        <p:spPr>
          <a:xfrm>
            <a:off x="548640" y="1828800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3CDD7"/>
                </a:solidFill>
                <a:latin typeface="Trebuchet MS"/>
                <a:ea typeface="Trebuchet MS"/>
                <a:cs typeface="Trebuchet MS"/>
                <a:sym typeface="Trebuchet MS"/>
              </a:rPr>
              <a:t>SECTION  1 /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8"/>
          <p:cNvSpPr/>
          <p:nvPr/>
        </p:nvSpPr>
        <p:spPr>
          <a:xfrm>
            <a:off x="521208" y="2240280"/>
            <a:ext cx="7863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Trebuchet MS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8"/>
          <p:cNvSpPr/>
          <p:nvPr/>
        </p:nvSpPr>
        <p:spPr>
          <a:xfrm>
            <a:off x="548651" y="3703325"/>
            <a:ext cx="7570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Sensitive documents, MFT breaches at scale, and why current protection fails.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8"/>
          <p:cNvSpPr/>
          <p:nvPr/>
        </p:nvSpPr>
        <p:spPr>
          <a:xfrm>
            <a:off x="548640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8"/>
          <p:cNvSpPr/>
          <p:nvPr/>
        </p:nvSpPr>
        <p:spPr>
          <a:xfrm>
            <a:off x="548640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8"/>
          <p:cNvSpPr/>
          <p:nvPr/>
        </p:nvSpPr>
        <p:spPr>
          <a:xfrm>
            <a:off x="2789469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8"/>
          <p:cNvSpPr/>
          <p:nvPr/>
        </p:nvSpPr>
        <p:spPr>
          <a:xfrm>
            <a:off x="2789469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8"/>
          <p:cNvSpPr/>
          <p:nvPr/>
        </p:nvSpPr>
        <p:spPr>
          <a:xfrm>
            <a:off x="5030297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8"/>
          <p:cNvSpPr/>
          <p:nvPr/>
        </p:nvSpPr>
        <p:spPr>
          <a:xfrm>
            <a:off x="5030297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8"/>
          <p:cNvSpPr/>
          <p:nvPr/>
        </p:nvSpPr>
        <p:spPr>
          <a:xfrm>
            <a:off x="7271126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8"/>
          <p:cNvSpPr/>
          <p:nvPr/>
        </p:nvSpPr>
        <p:spPr>
          <a:xfrm>
            <a:off x="7271126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8"/>
          <p:cNvSpPr/>
          <p:nvPr/>
        </p:nvSpPr>
        <p:spPr>
          <a:xfrm>
            <a:off x="9511955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8"/>
          <p:cNvSpPr/>
          <p:nvPr/>
        </p:nvSpPr>
        <p:spPr>
          <a:xfrm>
            <a:off x="9511955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9" name="Google Shape;469;p59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59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9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59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9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9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9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Sensitive documents are everywhere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9"/>
          <p:cNvSpPr/>
          <p:nvPr/>
        </p:nvSpPr>
        <p:spPr>
          <a:xfrm>
            <a:off x="548650" y="1920250"/>
            <a:ext cx="62247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800"/>
              <a:buFont typeface="Calibri"/>
              <a:buNone/>
            </a:pPr>
            <a:r>
              <a:rPr b="1" i="0" lang="en-US" sz="30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Finance, legal, healthcare, government.</a:t>
            </a:r>
            <a:br>
              <a:rPr b="1" i="0" lang="en-US" sz="30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550"/>
              <a:buFont typeface="Calibri"/>
              <a:buNone/>
            </a:pPr>
            <a:r>
              <a:rPr b="0" i="0" lang="en-US" sz="2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Confidential files are created </a:t>
            </a:r>
            <a:r>
              <a:rPr lang="en-US" sz="27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everyday </a:t>
            </a:r>
            <a:r>
              <a:rPr b="0" i="0" lang="en-US" sz="2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and must be shared with external </a:t>
            </a:r>
            <a:r>
              <a:rPr lang="en-US" sz="27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r>
              <a:rPr b="0" i="0" lang="en-US" sz="2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outside any single organization's control.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9"/>
          <p:cNvSpPr/>
          <p:nvPr/>
        </p:nvSpPr>
        <p:spPr>
          <a:xfrm>
            <a:off x="7360920" y="528523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Example: confidential legal brief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59"/>
          <p:cNvPicPr preferRelativeResize="0"/>
          <p:nvPr/>
        </p:nvPicPr>
        <p:blipFill rotWithShape="1">
          <a:blip r:embed="rId3">
            <a:alphaModFix/>
          </a:blip>
          <a:srcRect b="18427" l="0" r="0" t="0"/>
          <a:stretch/>
        </p:blipFill>
        <p:spPr>
          <a:xfrm>
            <a:off x="7199403" y="1482525"/>
            <a:ext cx="4529260" cy="364605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EE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828" y="0"/>
            <a:ext cx="10520019" cy="7013346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484" name="Google Shape;484;p60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080344" y="3249386"/>
            <a:ext cx="2366071" cy="1904801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5" name="Google Shape;485;p60"/>
          <p:cNvSpPr/>
          <p:nvPr/>
        </p:nvSpPr>
        <p:spPr>
          <a:xfrm>
            <a:off x="1884483" y="4799500"/>
            <a:ext cx="1581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486" name="Google Shape;486;p60"/>
          <p:cNvSpPr/>
          <p:nvPr/>
        </p:nvSpPr>
        <p:spPr>
          <a:xfrm>
            <a:off x="4485343" y="4799500"/>
            <a:ext cx="1440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pic>
        <p:nvPicPr>
          <p:cNvPr id="487" name="Google Shape;487;p60" title="Screenshot 2025-09-04 at 10.27.2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703608" y="5900733"/>
            <a:ext cx="16775689" cy="9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0"/>
          <p:cNvSpPr txBox="1"/>
          <p:nvPr/>
        </p:nvSpPr>
        <p:spPr>
          <a:xfrm>
            <a:off x="801238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Judge</a:t>
            </a:r>
            <a:endParaRPr b="1" sz="3300"/>
          </a:p>
        </p:txBody>
      </p:sp>
      <p:sp>
        <p:nvSpPr>
          <p:cNvPr id="489" name="Google Shape;489;p60"/>
          <p:cNvSpPr txBox="1"/>
          <p:nvPr/>
        </p:nvSpPr>
        <p:spPr>
          <a:xfrm>
            <a:off x="228440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Lawyer</a:t>
            </a:r>
            <a:endParaRPr b="1" sz="3300"/>
          </a:p>
        </p:txBody>
      </p:sp>
      <p:pic>
        <p:nvPicPr>
          <p:cNvPr id="490" name="Google Shape;490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553" y="44741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44338" y="4339233"/>
            <a:ext cx="2227741" cy="222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60" title="Screenshot 2025-09-04 at 10.27.2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9343" y="0"/>
            <a:ext cx="2893989" cy="307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60" title="Screenshot 2025-09-04 at 10.27.2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1400" y="926200"/>
            <a:ext cx="1428877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0" title="Screenshot 2025-09-04 at 10.27.29 PM.png"/>
          <p:cNvPicPr preferRelativeResize="0"/>
          <p:nvPr/>
        </p:nvPicPr>
        <p:blipFill rotWithShape="1">
          <a:blip r:embed="rId5">
            <a:alphaModFix/>
          </a:blip>
          <a:srcRect b="1371" l="28704" r="0" t="0"/>
          <a:stretch/>
        </p:blipFill>
        <p:spPr>
          <a:xfrm>
            <a:off x="4598811" y="25800"/>
            <a:ext cx="1018703" cy="3072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E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828" y="0"/>
            <a:ext cx="10520019" cy="7013346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00" name="Google Shape;500;p61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080344" y="3249386"/>
            <a:ext cx="2366071" cy="1904801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1" name="Google Shape;501;p61"/>
          <p:cNvPicPr preferRelativeResize="0"/>
          <p:nvPr/>
        </p:nvPicPr>
        <p:blipFill rotWithShape="1">
          <a:blip r:embed="rId5">
            <a:alphaModFix/>
          </a:blip>
          <a:srcRect b="26221" l="0" r="0" t="0"/>
          <a:stretch/>
        </p:blipFill>
        <p:spPr>
          <a:xfrm>
            <a:off x="6149970" y="618939"/>
            <a:ext cx="1126536" cy="39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4268" y="840823"/>
            <a:ext cx="1510650" cy="90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8736" y="219135"/>
            <a:ext cx="1080579" cy="54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0634" y="663366"/>
            <a:ext cx="772236" cy="30976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1"/>
          <p:cNvSpPr/>
          <p:nvPr/>
        </p:nvSpPr>
        <p:spPr>
          <a:xfrm>
            <a:off x="1884483" y="4799500"/>
            <a:ext cx="1581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4485343" y="4799500"/>
            <a:ext cx="1440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pic>
        <p:nvPicPr>
          <p:cNvPr id="507" name="Google Shape;507;p61" title="Screenshot 2025-09-04 at 10.27.29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5900733"/>
            <a:ext cx="12191676" cy="9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1"/>
          <p:cNvSpPr txBox="1"/>
          <p:nvPr/>
        </p:nvSpPr>
        <p:spPr>
          <a:xfrm>
            <a:off x="801238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Judge</a:t>
            </a:r>
            <a:endParaRPr b="1" sz="3300"/>
          </a:p>
        </p:txBody>
      </p:sp>
      <p:sp>
        <p:nvSpPr>
          <p:cNvPr id="509" name="Google Shape;509;p61"/>
          <p:cNvSpPr txBox="1"/>
          <p:nvPr/>
        </p:nvSpPr>
        <p:spPr>
          <a:xfrm>
            <a:off x="228440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Lawyer</a:t>
            </a:r>
            <a:endParaRPr b="1" sz="3300"/>
          </a:p>
        </p:txBody>
      </p:sp>
      <p:pic>
        <p:nvPicPr>
          <p:cNvPr id="510" name="Google Shape;510;p6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9553" y="44741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844338" y="4339233"/>
            <a:ext cx="2227741" cy="2227741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1"/>
          <p:cNvSpPr txBox="1"/>
          <p:nvPr/>
        </p:nvSpPr>
        <p:spPr>
          <a:xfrm>
            <a:off x="4352784" y="418050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MFT</a:t>
            </a:r>
            <a:endParaRPr b="1" sz="3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EE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828" y="0"/>
            <a:ext cx="10520019" cy="7013346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18" name="Google Shape;518;p62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080344" y="3249386"/>
            <a:ext cx="2366071" cy="1904801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9" name="Google Shape;519;p62"/>
          <p:cNvPicPr preferRelativeResize="0"/>
          <p:nvPr/>
        </p:nvPicPr>
        <p:blipFill rotWithShape="1">
          <a:blip r:embed="rId5">
            <a:alphaModFix/>
          </a:blip>
          <a:srcRect b="26221" l="0" r="0" t="0"/>
          <a:stretch/>
        </p:blipFill>
        <p:spPr>
          <a:xfrm>
            <a:off x="6149970" y="618939"/>
            <a:ext cx="1126536" cy="39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4268" y="840823"/>
            <a:ext cx="1510650" cy="90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8736" y="219135"/>
            <a:ext cx="1080579" cy="54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0634" y="663366"/>
            <a:ext cx="772236" cy="309768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2"/>
          <p:cNvSpPr/>
          <p:nvPr/>
        </p:nvSpPr>
        <p:spPr>
          <a:xfrm>
            <a:off x="1884483" y="4799500"/>
            <a:ext cx="1581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24" name="Google Shape;524;p62"/>
          <p:cNvSpPr/>
          <p:nvPr/>
        </p:nvSpPr>
        <p:spPr>
          <a:xfrm>
            <a:off x="4485343" y="4799500"/>
            <a:ext cx="1440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pic>
        <p:nvPicPr>
          <p:cNvPr id="525" name="Google Shape;525;p62" title="Screenshot 2025-09-04 at 10.27.29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5900733"/>
            <a:ext cx="12191676" cy="9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2"/>
          <p:cNvSpPr txBox="1"/>
          <p:nvPr/>
        </p:nvSpPr>
        <p:spPr>
          <a:xfrm>
            <a:off x="801238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Judge</a:t>
            </a:r>
            <a:endParaRPr b="1" sz="3300"/>
          </a:p>
        </p:txBody>
      </p:sp>
      <p:sp>
        <p:nvSpPr>
          <p:cNvPr id="527" name="Google Shape;527;p62"/>
          <p:cNvSpPr txBox="1"/>
          <p:nvPr/>
        </p:nvSpPr>
        <p:spPr>
          <a:xfrm>
            <a:off x="228440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Lawyer</a:t>
            </a:r>
            <a:endParaRPr b="1" sz="3300"/>
          </a:p>
        </p:txBody>
      </p:sp>
      <p:pic>
        <p:nvPicPr>
          <p:cNvPr id="528" name="Google Shape;528;p6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9553" y="44741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6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844338" y="4339233"/>
            <a:ext cx="2227741" cy="222774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62"/>
          <p:cNvSpPr txBox="1"/>
          <p:nvPr/>
        </p:nvSpPr>
        <p:spPr>
          <a:xfrm>
            <a:off x="4352784" y="418050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MFT</a:t>
            </a:r>
            <a:endParaRPr b="1" sz="3300"/>
          </a:p>
        </p:txBody>
      </p:sp>
      <p:pic>
        <p:nvPicPr>
          <p:cNvPr id="531" name="Google Shape;531;p6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213128" y="-234267"/>
            <a:ext cx="3268078" cy="32680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2" name="Google Shape;532;p62"/>
          <p:cNvCxnSpPr/>
          <p:nvPr/>
        </p:nvCxnSpPr>
        <p:spPr>
          <a:xfrm>
            <a:off x="2164509" y="2432200"/>
            <a:ext cx="644400" cy="817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EE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828" y="0"/>
            <a:ext cx="10520019" cy="7013346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38" name="Google Shape;538;p63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080344" y="3249386"/>
            <a:ext cx="2366071" cy="1904801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9" name="Google Shape;539;p63"/>
          <p:cNvPicPr preferRelativeResize="0"/>
          <p:nvPr/>
        </p:nvPicPr>
        <p:blipFill rotWithShape="1">
          <a:blip r:embed="rId5">
            <a:alphaModFix/>
          </a:blip>
          <a:srcRect b="26221" l="0" r="0" t="0"/>
          <a:stretch/>
        </p:blipFill>
        <p:spPr>
          <a:xfrm>
            <a:off x="6149970" y="618939"/>
            <a:ext cx="1126536" cy="39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4268" y="840823"/>
            <a:ext cx="1510650" cy="90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8736" y="219135"/>
            <a:ext cx="1080579" cy="54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0634" y="663366"/>
            <a:ext cx="772236" cy="309768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63"/>
          <p:cNvSpPr/>
          <p:nvPr/>
        </p:nvSpPr>
        <p:spPr>
          <a:xfrm>
            <a:off x="1884483" y="4799500"/>
            <a:ext cx="1581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44" name="Google Shape;544;p63"/>
          <p:cNvSpPr/>
          <p:nvPr/>
        </p:nvSpPr>
        <p:spPr>
          <a:xfrm>
            <a:off x="4485343" y="4799500"/>
            <a:ext cx="1440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pic>
        <p:nvPicPr>
          <p:cNvPr id="545" name="Google Shape;545;p63" title="Screenshot 2025-09-04 at 10.27.29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5900733"/>
            <a:ext cx="12191676" cy="9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63"/>
          <p:cNvSpPr txBox="1"/>
          <p:nvPr/>
        </p:nvSpPr>
        <p:spPr>
          <a:xfrm>
            <a:off x="801238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Judge</a:t>
            </a:r>
            <a:endParaRPr b="1" sz="3300"/>
          </a:p>
        </p:txBody>
      </p:sp>
      <p:sp>
        <p:nvSpPr>
          <p:cNvPr id="547" name="Google Shape;547;p63"/>
          <p:cNvSpPr txBox="1"/>
          <p:nvPr/>
        </p:nvSpPr>
        <p:spPr>
          <a:xfrm>
            <a:off x="228440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Lawyer</a:t>
            </a:r>
            <a:endParaRPr b="1" sz="3300"/>
          </a:p>
        </p:txBody>
      </p:sp>
      <p:pic>
        <p:nvPicPr>
          <p:cNvPr id="548" name="Google Shape;548;p6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9553" y="44741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844338" y="4339233"/>
            <a:ext cx="2227741" cy="222774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3"/>
          <p:cNvSpPr txBox="1"/>
          <p:nvPr/>
        </p:nvSpPr>
        <p:spPr>
          <a:xfrm>
            <a:off x="4352784" y="418050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MFT</a:t>
            </a:r>
            <a:endParaRPr b="1" sz="3300"/>
          </a:p>
        </p:txBody>
      </p:sp>
      <p:pic>
        <p:nvPicPr>
          <p:cNvPr id="551" name="Google Shape;551;p6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213128" y="-234267"/>
            <a:ext cx="3268078" cy="32680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63"/>
          <p:cNvCxnSpPr/>
          <p:nvPr/>
        </p:nvCxnSpPr>
        <p:spPr>
          <a:xfrm>
            <a:off x="2205654" y="1452784"/>
            <a:ext cx="2930700" cy="141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63"/>
          <p:cNvCxnSpPr>
            <a:endCxn id="550" idx="0"/>
          </p:cNvCxnSpPr>
          <p:nvPr/>
        </p:nvCxnSpPr>
        <p:spPr>
          <a:xfrm flipH="1" rot="10800000">
            <a:off x="2205684" y="418050"/>
            <a:ext cx="3126000" cy="103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63"/>
          <p:cNvCxnSpPr/>
          <p:nvPr/>
        </p:nvCxnSpPr>
        <p:spPr>
          <a:xfrm>
            <a:off x="2164509" y="2432200"/>
            <a:ext cx="644400" cy="817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EE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828" y="0"/>
            <a:ext cx="10520019" cy="7013346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60" name="Google Shape;560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080344" y="3249386"/>
            <a:ext cx="2366071" cy="1904801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1" name="Google Shape;561;p64"/>
          <p:cNvPicPr preferRelativeResize="0"/>
          <p:nvPr/>
        </p:nvPicPr>
        <p:blipFill rotWithShape="1">
          <a:blip r:embed="rId5">
            <a:alphaModFix/>
          </a:blip>
          <a:srcRect b="26221" l="0" r="0" t="0"/>
          <a:stretch/>
        </p:blipFill>
        <p:spPr>
          <a:xfrm>
            <a:off x="6149970" y="618939"/>
            <a:ext cx="1126536" cy="39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4268" y="840823"/>
            <a:ext cx="1510650" cy="90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8736" y="219135"/>
            <a:ext cx="1080579" cy="54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0634" y="663366"/>
            <a:ext cx="772236" cy="309768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4"/>
          <p:cNvSpPr/>
          <p:nvPr/>
        </p:nvSpPr>
        <p:spPr>
          <a:xfrm>
            <a:off x="1884483" y="4799500"/>
            <a:ext cx="1581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66" name="Google Shape;566;p64"/>
          <p:cNvSpPr/>
          <p:nvPr/>
        </p:nvSpPr>
        <p:spPr>
          <a:xfrm>
            <a:off x="4485343" y="4799500"/>
            <a:ext cx="144000" cy="272400"/>
          </a:xfrm>
          <a:prstGeom prst="rect">
            <a:avLst/>
          </a:prstGeom>
          <a:solidFill>
            <a:srgbClr val="FFFFFF"/>
          </a:solidFill>
          <a:ln cap="flat" cmpd="sng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pic>
        <p:nvPicPr>
          <p:cNvPr id="567" name="Google Shape;567;p64" title="Screenshot 2025-09-04 at 10.27.29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5900733"/>
            <a:ext cx="12191676" cy="9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4"/>
          <p:cNvSpPr txBox="1"/>
          <p:nvPr/>
        </p:nvSpPr>
        <p:spPr>
          <a:xfrm>
            <a:off x="801238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Judge</a:t>
            </a:r>
            <a:endParaRPr b="1" sz="3300"/>
          </a:p>
        </p:txBody>
      </p:sp>
      <p:sp>
        <p:nvSpPr>
          <p:cNvPr id="569" name="Google Shape;569;p64"/>
          <p:cNvSpPr txBox="1"/>
          <p:nvPr/>
        </p:nvSpPr>
        <p:spPr>
          <a:xfrm>
            <a:off x="2284406" y="5734433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Lawyer</a:t>
            </a:r>
            <a:endParaRPr b="1" sz="3300"/>
          </a:p>
        </p:txBody>
      </p:sp>
      <p:pic>
        <p:nvPicPr>
          <p:cNvPr id="570" name="Google Shape;570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965" y="4105660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844338" y="4339233"/>
            <a:ext cx="2227741" cy="2227741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4"/>
          <p:cNvSpPr txBox="1"/>
          <p:nvPr/>
        </p:nvSpPr>
        <p:spPr>
          <a:xfrm>
            <a:off x="4352784" y="418050"/>
            <a:ext cx="195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MFT</a:t>
            </a:r>
            <a:endParaRPr b="1" sz="3300"/>
          </a:p>
        </p:txBody>
      </p:sp>
      <p:pic>
        <p:nvPicPr>
          <p:cNvPr id="573" name="Google Shape;573;p6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213128" y="-234267"/>
            <a:ext cx="3268078" cy="32680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4" name="Google Shape;574;p64"/>
          <p:cNvCxnSpPr/>
          <p:nvPr/>
        </p:nvCxnSpPr>
        <p:spPr>
          <a:xfrm>
            <a:off x="2205654" y="1452784"/>
            <a:ext cx="2930700" cy="141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64"/>
          <p:cNvCxnSpPr>
            <a:endCxn id="572" idx="0"/>
          </p:cNvCxnSpPr>
          <p:nvPr/>
        </p:nvCxnSpPr>
        <p:spPr>
          <a:xfrm flipH="1" rot="10800000">
            <a:off x="2205684" y="418050"/>
            <a:ext cx="3126000" cy="103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64"/>
          <p:cNvCxnSpPr/>
          <p:nvPr/>
        </p:nvCxnSpPr>
        <p:spPr>
          <a:xfrm>
            <a:off x="1892483" y="2490200"/>
            <a:ext cx="697200" cy="18180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pic>
        <p:nvPicPr>
          <p:cNvPr id="577" name="Google Shape;577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3160" y="4308860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6354" y="4512060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9549" y="4715260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2744" y="4918460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5938" y="5121660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79133" y="5324860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19190" y="340517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42351" y="36894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5546" y="38926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48740" y="40958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5129" y="45022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58324" y="47054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61519" y="49086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64713" y="5111827"/>
            <a:ext cx="1957948" cy="195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67908" y="5315027"/>
            <a:ext cx="1957948" cy="19579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2" name="Google Shape;592;p64"/>
          <p:cNvCxnSpPr/>
          <p:nvPr/>
        </p:nvCxnSpPr>
        <p:spPr>
          <a:xfrm>
            <a:off x="1710921" y="2522367"/>
            <a:ext cx="480900" cy="2184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64"/>
          <p:cNvCxnSpPr/>
          <p:nvPr/>
        </p:nvCxnSpPr>
        <p:spPr>
          <a:xfrm>
            <a:off x="1379530" y="2552233"/>
            <a:ext cx="537900" cy="2901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64"/>
          <p:cNvCxnSpPr/>
          <p:nvPr/>
        </p:nvCxnSpPr>
        <p:spPr>
          <a:xfrm>
            <a:off x="1435962" y="2493967"/>
            <a:ext cx="506400" cy="23745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64"/>
          <p:cNvCxnSpPr>
            <a:endCxn id="583" idx="1"/>
          </p:cNvCxnSpPr>
          <p:nvPr/>
        </p:nvCxnSpPr>
        <p:spPr>
          <a:xfrm>
            <a:off x="1347090" y="2644451"/>
            <a:ext cx="272100" cy="17397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64"/>
          <p:cNvCxnSpPr/>
          <p:nvPr/>
        </p:nvCxnSpPr>
        <p:spPr>
          <a:xfrm>
            <a:off x="996907" y="2552233"/>
            <a:ext cx="410100" cy="2154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64"/>
          <p:cNvCxnSpPr/>
          <p:nvPr/>
        </p:nvCxnSpPr>
        <p:spPr>
          <a:xfrm>
            <a:off x="1098721" y="2493967"/>
            <a:ext cx="544800" cy="24615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64"/>
          <p:cNvCxnSpPr/>
          <p:nvPr/>
        </p:nvCxnSpPr>
        <p:spPr>
          <a:xfrm>
            <a:off x="921342" y="2577367"/>
            <a:ext cx="299100" cy="2353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pic>
        <p:nvPicPr>
          <p:cNvPr id="599" name="Google Shape;599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283538" y="34525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0" name="Google Shape;600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486733" y="36557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1" name="Google Shape;601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689927" y="38589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2" name="Google Shape;602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2893122" y="40621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3" name="Google Shape;603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3096317" y="42653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4" name="Google Shape;604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3299511" y="44685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5" name="Google Shape;605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3502706" y="46717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6" name="Google Shape;606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3705900" y="48749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7" name="Google Shape;607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3909095" y="50781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8" name="Google Shape;608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4112290" y="52813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9" name="Google Shape;609;p64"/>
          <p:cNvPicPr preferRelativeResize="0"/>
          <p:nvPr/>
        </p:nvPicPr>
        <p:blipFill rotWithShape="1">
          <a:blip r:embed="rId4">
            <a:alphaModFix/>
          </a:blip>
          <a:srcRect b="18427" l="0" r="0" t="0"/>
          <a:stretch/>
        </p:blipFill>
        <p:spPr>
          <a:xfrm>
            <a:off x="4315484" y="5484586"/>
            <a:ext cx="2366071" cy="1904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10" name="Google Shape;610;p64"/>
          <p:cNvCxnSpPr/>
          <p:nvPr/>
        </p:nvCxnSpPr>
        <p:spPr>
          <a:xfrm>
            <a:off x="1867584" y="2564900"/>
            <a:ext cx="925200" cy="1946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64"/>
          <p:cNvCxnSpPr/>
          <p:nvPr/>
        </p:nvCxnSpPr>
        <p:spPr>
          <a:xfrm>
            <a:off x="1805352" y="2589800"/>
            <a:ext cx="1190700" cy="21249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64"/>
          <p:cNvCxnSpPr/>
          <p:nvPr/>
        </p:nvCxnSpPr>
        <p:spPr>
          <a:xfrm>
            <a:off x="1543892" y="2490200"/>
            <a:ext cx="1655100" cy="24279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64"/>
          <p:cNvCxnSpPr/>
          <p:nvPr/>
        </p:nvCxnSpPr>
        <p:spPr>
          <a:xfrm>
            <a:off x="1755553" y="2564900"/>
            <a:ext cx="1646700" cy="25560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64"/>
          <p:cNvCxnSpPr/>
          <p:nvPr/>
        </p:nvCxnSpPr>
        <p:spPr>
          <a:xfrm>
            <a:off x="1481627" y="2515100"/>
            <a:ext cx="2124000" cy="2809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64"/>
          <p:cNvCxnSpPr/>
          <p:nvPr/>
        </p:nvCxnSpPr>
        <p:spPr>
          <a:xfrm>
            <a:off x="1357130" y="2925992"/>
            <a:ext cx="2451600" cy="2925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64"/>
          <p:cNvCxnSpPr/>
          <p:nvPr/>
        </p:nvCxnSpPr>
        <p:spPr>
          <a:xfrm>
            <a:off x="1269966" y="2510600"/>
            <a:ext cx="2646600" cy="30828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64"/>
          <p:cNvCxnSpPr/>
          <p:nvPr/>
        </p:nvCxnSpPr>
        <p:spPr>
          <a:xfrm>
            <a:off x="1181768" y="2510600"/>
            <a:ext cx="2950800" cy="33939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64"/>
          <p:cNvCxnSpPr/>
          <p:nvPr/>
        </p:nvCxnSpPr>
        <p:spPr>
          <a:xfrm>
            <a:off x="1020939" y="2701861"/>
            <a:ext cx="3397500" cy="35721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4" name="Google Shape;624;p65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65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5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5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5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65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5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not hypothetical. 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1" name="Google Shape;631;p65"/>
          <p:cNvPicPr preferRelativeResize="0"/>
          <p:nvPr/>
        </p:nvPicPr>
        <p:blipFill rotWithShape="1">
          <a:blip r:embed="rId3">
            <a:alphaModFix/>
          </a:blip>
          <a:srcRect b="18427" l="0" r="0" t="0"/>
          <a:stretch/>
        </p:blipFill>
        <p:spPr>
          <a:xfrm>
            <a:off x="1900338" y="1708525"/>
            <a:ext cx="4912400" cy="39544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2" name="Google Shape;632;p65"/>
          <p:cNvSpPr txBox="1"/>
          <p:nvPr/>
        </p:nvSpPr>
        <p:spPr>
          <a:xfrm rot="-1081483">
            <a:off x="1894152" y="2436114"/>
            <a:ext cx="3259570" cy="4770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0000"/>
                </a:solidFill>
                <a:latin typeface="Aldrich"/>
                <a:ea typeface="Aldrich"/>
                <a:cs typeface="Aldrich"/>
                <a:sym typeface="Aldrich"/>
              </a:rPr>
              <a:t>Hacked by CL0P </a:t>
            </a:r>
            <a:endParaRPr b="1" sz="1900">
              <a:solidFill>
                <a:srgbClr val="FF0000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633" name="Google Shape;633;p65"/>
          <p:cNvSpPr txBox="1"/>
          <p:nvPr/>
        </p:nvSpPr>
        <p:spPr>
          <a:xfrm>
            <a:off x="6866275" y="3336850"/>
            <a:ext cx="427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x </a:t>
            </a:r>
            <a:r>
              <a:rPr b="1" lang="en-US" sz="4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95,788,491</a:t>
            </a:r>
            <a:endParaRPr b="1" sz="45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people </a:t>
            </a:r>
            <a:endParaRPr b="1" sz="3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65"/>
          <p:cNvSpPr txBox="1"/>
          <p:nvPr/>
        </p:nvSpPr>
        <p:spPr>
          <a:xfrm>
            <a:off x="7157975" y="1708525"/>
            <a:ext cx="472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Trebuchet MS"/>
                <a:ea typeface="Trebuchet MS"/>
                <a:cs typeface="Trebuchet MS"/>
                <a:sym typeface="Trebuchet MS"/>
              </a:rPr>
              <a:t>May 2023 </a:t>
            </a:r>
            <a:br>
              <a:rPr b="1" lang="en-US" sz="3000">
                <a:solidFill>
                  <a:srgbClr val="545454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3000">
                <a:solidFill>
                  <a:srgbClr val="545454"/>
                </a:solidFill>
                <a:latin typeface="Trebuchet MS"/>
                <a:ea typeface="Trebuchet MS"/>
                <a:cs typeface="Trebuchet MS"/>
                <a:sym typeface="Trebuchet MS"/>
              </a:rPr>
              <a:t>MOVEit breach</a:t>
            </a:r>
            <a:endParaRPr b="1" sz="3000">
              <a:solidFill>
                <a:srgbClr val="54545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5" name="Google Shape;635;p65"/>
          <p:cNvSpPr txBox="1"/>
          <p:nvPr/>
        </p:nvSpPr>
        <p:spPr>
          <a:xfrm>
            <a:off x="8951663" y="5140200"/>
            <a:ext cx="2931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28% of</a:t>
            </a: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6" name="Google Shape;636;p65"/>
          <p:cNvPicPr preferRelativeResize="0"/>
          <p:nvPr/>
        </p:nvPicPr>
        <p:blipFill rotWithShape="1">
          <a:blip r:embed="rId4">
            <a:alphaModFix/>
          </a:blip>
          <a:srcRect b="0" l="0" r="6977" t="0"/>
          <a:stretch/>
        </p:blipFill>
        <p:spPr>
          <a:xfrm>
            <a:off x="10382325" y="5080375"/>
            <a:ext cx="669748" cy="7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2" name="Google Shape;642;p66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66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6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6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66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66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8" name="Google Shape;648;p66"/>
          <p:cNvPicPr preferRelativeResize="0"/>
          <p:nvPr/>
        </p:nvPicPr>
        <p:blipFill rotWithShape="1">
          <a:blip r:embed="rId3">
            <a:alphaModFix/>
          </a:blip>
          <a:srcRect b="2339" l="0" r="0" t="10386"/>
          <a:stretch/>
        </p:blipFill>
        <p:spPr>
          <a:xfrm>
            <a:off x="776550" y="299875"/>
            <a:ext cx="10638575" cy="579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4" name="Google Shape;654;p67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67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67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67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7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7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7"/>
          <p:cNvSpPr/>
          <p:nvPr/>
        </p:nvSpPr>
        <p:spPr>
          <a:xfrm>
            <a:off x="1482999" y="491450"/>
            <a:ext cx="92256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2402"/>
              <a:buFont typeface="Trebuchet MS"/>
              <a:buNone/>
            </a:pPr>
            <a:r>
              <a:rPr b="1" i="0" lang="en-US" sz="2402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A systematic pattern of Managed File Transfer (MFT) breaches:</a:t>
            </a:r>
            <a:endParaRPr b="0" i="0" sz="24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67"/>
          <p:cNvSpPr/>
          <p:nvPr/>
        </p:nvSpPr>
        <p:spPr>
          <a:xfrm>
            <a:off x="1482999" y="1370088"/>
            <a:ext cx="9152400" cy="673800"/>
          </a:xfrm>
          <a:prstGeom prst="roundRect">
            <a:avLst>
              <a:gd fmla="val 13043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67"/>
          <p:cNvSpPr/>
          <p:nvPr/>
        </p:nvSpPr>
        <p:spPr>
          <a:xfrm>
            <a:off x="1658726" y="1560460"/>
            <a:ext cx="293400" cy="2934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67"/>
          <p:cNvSpPr/>
          <p:nvPr/>
        </p:nvSpPr>
        <p:spPr>
          <a:xfrm>
            <a:off x="2141974" y="1370088"/>
            <a:ext cx="51252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2162"/>
              <a:buFont typeface="Calibri"/>
              <a:buNone/>
            </a:pPr>
            <a:r>
              <a:rPr b="0" i="0" lang="en-US" sz="2162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Accellion</a:t>
            </a:r>
            <a:endParaRPr b="0" i="0" sz="2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67"/>
          <p:cNvSpPr/>
          <p:nvPr/>
        </p:nvSpPr>
        <p:spPr>
          <a:xfrm>
            <a:off x="7194115" y="1370088"/>
            <a:ext cx="32949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2002"/>
              <a:buFont typeface="Calibri"/>
              <a:buNone/>
            </a:pPr>
            <a:r>
              <a:rPr b="0" i="0" lang="en-US" sz="2002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Dec 2020</a:t>
            </a:r>
            <a:endParaRPr b="0" i="0" sz="2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7"/>
          <p:cNvSpPr/>
          <p:nvPr/>
        </p:nvSpPr>
        <p:spPr>
          <a:xfrm>
            <a:off x="1482999" y="2131575"/>
            <a:ext cx="9152400" cy="673800"/>
          </a:xfrm>
          <a:prstGeom prst="roundRect">
            <a:avLst>
              <a:gd fmla="val 13043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7"/>
          <p:cNvSpPr/>
          <p:nvPr/>
        </p:nvSpPr>
        <p:spPr>
          <a:xfrm>
            <a:off x="1658726" y="2321946"/>
            <a:ext cx="293400" cy="2934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67"/>
          <p:cNvSpPr/>
          <p:nvPr/>
        </p:nvSpPr>
        <p:spPr>
          <a:xfrm>
            <a:off x="2141974" y="2131575"/>
            <a:ext cx="51252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2162"/>
              <a:buFont typeface="Calibri"/>
              <a:buNone/>
            </a:pPr>
            <a:r>
              <a:rPr b="0" i="0" lang="en-US" sz="2162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Serv-U</a:t>
            </a:r>
            <a:endParaRPr b="0" i="0" sz="2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7"/>
          <p:cNvSpPr/>
          <p:nvPr/>
        </p:nvSpPr>
        <p:spPr>
          <a:xfrm>
            <a:off x="7194115" y="2131575"/>
            <a:ext cx="32949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2002"/>
              <a:buFont typeface="Calibri"/>
              <a:buNone/>
            </a:pPr>
            <a:r>
              <a:rPr b="0" i="0" lang="en-US" sz="2002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Nov 2021</a:t>
            </a:r>
            <a:endParaRPr b="0" i="0" sz="2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67"/>
          <p:cNvSpPr/>
          <p:nvPr/>
        </p:nvSpPr>
        <p:spPr>
          <a:xfrm>
            <a:off x="1482999" y="2893061"/>
            <a:ext cx="9152400" cy="673800"/>
          </a:xfrm>
          <a:prstGeom prst="roundRect">
            <a:avLst>
              <a:gd fmla="val 13043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67"/>
          <p:cNvSpPr/>
          <p:nvPr/>
        </p:nvSpPr>
        <p:spPr>
          <a:xfrm>
            <a:off x="1658726" y="3083432"/>
            <a:ext cx="293400" cy="2934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67"/>
          <p:cNvSpPr/>
          <p:nvPr/>
        </p:nvSpPr>
        <p:spPr>
          <a:xfrm>
            <a:off x="2141974" y="2893061"/>
            <a:ext cx="51252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2162"/>
              <a:buFont typeface="Calibri"/>
              <a:buNone/>
            </a:pPr>
            <a:r>
              <a:rPr b="0" i="0" lang="en-US" sz="2162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GoAnywhere</a:t>
            </a:r>
            <a:endParaRPr b="0" i="0" sz="2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67"/>
          <p:cNvSpPr/>
          <p:nvPr/>
        </p:nvSpPr>
        <p:spPr>
          <a:xfrm>
            <a:off x="7194115" y="2893061"/>
            <a:ext cx="32949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2002"/>
              <a:buFont typeface="Calibri"/>
              <a:buNone/>
            </a:pPr>
            <a:r>
              <a:rPr b="0" i="0" lang="en-US" sz="2002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Jan 2023</a:t>
            </a:r>
            <a:endParaRPr b="0" i="0" sz="2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67"/>
          <p:cNvSpPr/>
          <p:nvPr/>
        </p:nvSpPr>
        <p:spPr>
          <a:xfrm>
            <a:off x="1482999" y="3654547"/>
            <a:ext cx="9152400" cy="673800"/>
          </a:xfrm>
          <a:prstGeom prst="roundRect">
            <a:avLst>
              <a:gd fmla="val 13043" name="adj"/>
            </a:avLst>
          </a:prstGeom>
          <a:solidFill>
            <a:srgbClr val="E8EDF2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67"/>
          <p:cNvSpPr/>
          <p:nvPr/>
        </p:nvSpPr>
        <p:spPr>
          <a:xfrm>
            <a:off x="1658726" y="3844919"/>
            <a:ext cx="293400" cy="293400"/>
          </a:xfrm>
          <a:prstGeom prst="ellipse">
            <a:avLst/>
          </a:prstGeom>
          <a:solidFill>
            <a:srgbClr val="A23A2D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7"/>
          <p:cNvSpPr/>
          <p:nvPr/>
        </p:nvSpPr>
        <p:spPr>
          <a:xfrm>
            <a:off x="2141974" y="3654547"/>
            <a:ext cx="51252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3A2D"/>
              </a:buClr>
              <a:buSzPts val="2162"/>
              <a:buFont typeface="Calibri"/>
              <a:buNone/>
            </a:pPr>
            <a:r>
              <a:rPr b="1" i="0" lang="en-US" sz="2162" u="none" cap="none" strike="noStrike">
                <a:solidFill>
                  <a:srgbClr val="A23A2D"/>
                </a:solidFill>
                <a:latin typeface="Calibri"/>
                <a:ea typeface="Calibri"/>
                <a:cs typeface="Calibri"/>
                <a:sym typeface="Calibri"/>
              </a:rPr>
              <a:t>MOVEit</a:t>
            </a:r>
            <a:endParaRPr b="0" i="0" sz="2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7"/>
          <p:cNvSpPr/>
          <p:nvPr/>
        </p:nvSpPr>
        <p:spPr>
          <a:xfrm>
            <a:off x="7194115" y="3654547"/>
            <a:ext cx="32949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2002"/>
              <a:buFont typeface="Calibri"/>
              <a:buNone/>
            </a:pPr>
            <a:r>
              <a:rPr b="0" i="0" lang="en-US" sz="2002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May 2023</a:t>
            </a:r>
            <a:endParaRPr b="0" i="0" sz="2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7"/>
          <p:cNvSpPr/>
          <p:nvPr/>
        </p:nvSpPr>
        <p:spPr>
          <a:xfrm>
            <a:off x="1482999" y="4416034"/>
            <a:ext cx="9152400" cy="673800"/>
          </a:xfrm>
          <a:prstGeom prst="roundRect">
            <a:avLst>
              <a:gd fmla="val 13043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67"/>
          <p:cNvSpPr/>
          <p:nvPr/>
        </p:nvSpPr>
        <p:spPr>
          <a:xfrm>
            <a:off x="1658726" y="4606405"/>
            <a:ext cx="293400" cy="2934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67"/>
          <p:cNvSpPr/>
          <p:nvPr/>
        </p:nvSpPr>
        <p:spPr>
          <a:xfrm>
            <a:off x="2141974" y="4416034"/>
            <a:ext cx="51252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2162"/>
              <a:buFont typeface="Calibri"/>
              <a:buNone/>
            </a:pPr>
            <a:r>
              <a:rPr b="0" i="0" lang="en-US" sz="2162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Cleo</a:t>
            </a:r>
            <a:endParaRPr b="0" i="0" sz="2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7"/>
          <p:cNvSpPr/>
          <p:nvPr/>
        </p:nvSpPr>
        <p:spPr>
          <a:xfrm>
            <a:off x="7194115" y="4416034"/>
            <a:ext cx="32949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2002"/>
              <a:buFont typeface="Calibri"/>
              <a:buNone/>
            </a:pPr>
            <a:r>
              <a:rPr b="0" i="0" lang="en-US" sz="2002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Dec 2024</a:t>
            </a:r>
            <a:endParaRPr b="0" i="0" sz="2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7"/>
          <p:cNvSpPr/>
          <p:nvPr/>
        </p:nvSpPr>
        <p:spPr>
          <a:xfrm>
            <a:off x="1482999" y="5177520"/>
            <a:ext cx="9152400" cy="673800"/>
          </a:xfrm>
          <a:prstGeom prst="roundRect">
            <a:avLst>
              <a:gd fmla="val 13043" name="adj"/>
            </a:avLst>
          </a:prstGeom>
          <a:solidFill>
            <a:srgbClr val="F3F5F8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67"/>
          <p:cNvSpPr/>
          <p:nvPr/>
        </p:nvSpPr>
        <p:spPr>
          <a:xfrm>
            <a:off x="1658726" y="5367892"/>
            <a:ext cx="293400" cy="2934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146400" lIns="146400" spcFirstLastPara="1" rIns="146400" wrap="square" tIns="1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67"/>
          <p:cNvSpPr/>
          <p:nvPr/>
        </p:nvSpPr>
        <p:spPr>
          <a:xfrm>
            <a:off x="2141974" y="5177520"/>
            <a:ext cx="51252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2162"/>
              <a:buFont typeface="Calibri"/>
              <a:buNone/>
            </a:pPr>
            <a:r>
              <a:rPr b="0" i="0" lang="en-US" sz="2162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Wing FTP</a:t>
            </a:r>
            <a:endParaRPr b="0" i="0" sz="21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7"/>
          <p:cNvSpPr/>
          <p:nvPr/>
        </p:nvSpPr>
        <p:spPr>
          <a:xfrm>
            <a:off x="7194115" y="5177520"/>
            <a:ext cx="32949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2002"/>
              <a:buFont typeface="Calibri"/>
              <a:buNone/>
            </a:pPr>
            <a:r>
              <a:rPr b="0" i="0" lang="en-US" sz="2002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Jul 2025</a:t>
            </a:r>
            <a:endParaRPr b="0" i="0" sz="2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0" name="Google Shape;690;p68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68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68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8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68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8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68"/>
          <p:cNvSpPr/>
          <p:nvPr/>
        </p:nvSpPr>
        <p:spPr>
          <a:xfrm>
            <a:off x="1482999" y="224175"/>
            <a:ext cx="92256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2402"/>
              <a:buFont typeface="Trebuchet MS"/>
              <a:buNone/>
            </a:pPr>
            <a:r>
              <a:rPr b="1" lang="en-US" sz="2402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Adversary Threat Model </a:t>
            </a:r>
            <a:endParaRPr b="0" i="0" sz="24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7" name="Google Shape;69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013" y="882938"/>
            <a:ext cx="5847642" cy="54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3" name="Google Shape;703;p69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69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69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9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69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69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9" name="Google Shape;70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335" y="3814594"/>
            <a:ext cx="1775356" cy="177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8972" y="1341150"/>
            <a:ext cx="3469875" cy="1951802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69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Usability…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2" name="Google Shape;712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6750" y="1954850"/>
            <a:ext cx="5222250" cy="36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8" name="Google Shape;718;p70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9" name="Google Shape;719;p70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70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70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70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70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70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Two things are broken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70"/>
          <p:cNvSpPr/>
          <p:nvPr/>
        </p:nvSpPr>
        <p:spPr>
          <a:xfrm>
            <a:off x="548640" y="1874520"/>
            <a:ext cx="5440680" cy="3611880"/>
          </a:xfrm>
          <a:prstGeom prst="roundRect">
            <a:avLst>
              <a:gd fmla="val 227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70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7" name="Google Shape;72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942" y="24588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70"/>
          <p:cNvSpPr/>
          <p:nvPr/>
        </p:nvSpPr>
        <p:spPr>
          <a:xfrm>
            <a:off x="1783080" y="2286000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Perimeter &amp; at-rest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70"/>
          <p:cNvSpPr/>
          <p:nvPr/>
        </p:nvSpPr>
        <p:spPr>
          <a:xfrm>
            <a:off x="960120" y="3200400"/>
            <a:ext cx="4617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50"/>
              <a:buFont typeface="Calibri"/>
              <a:buNone/>
            </a:pPr>
            <a:r>
              <a:rPr b="0" i="0" lang="en-US" sz="20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MFT and cloud storage encrypt files only </a:t>
            </a:r>
            <a:br>
              <a:rPr b="0" i="0" lang="en-US" sz="20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“at rest.” Once an attacker is inside the system, every file can be read.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70"/>
          <p:cNvSpPr/>
          <p:nvPr/>
        </p:nvSpPr>
        <p:spPr>
          <a:xfrm>
            <a:off x="960120" y="4773168"/>
            <a:ext cx="54864" cy="329184"/>
          </a:xfrm>
          <a:prstGeom prst="rect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70"/>
          <p:cNvSpPr/>
          <p:nvPr/>
        </p:nvSpPr>
        <p:spPr>
          <a:xfrm>
            <a:off x="1115568" y="4736592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300"/>
              <a:buFont typeface="Calibri"/>
              <a:buNone/>
            </a:pPr>
            <a:r>
              <a:rPr b="1" i="1" lang="en-US" sz="16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One breach → all documents exposed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70"/>
          <p:cNvSpPr/>
          <p:nvPr/>
        </p:nvSpPr>
        <p:spPr>
          <a:xfrm>
            <a:off x="6400800" y="1874520"/>
            <a:ext cx="5440680" cy="3611880"/>
          </a:xfrm>
          <a:prstGeom prst="roundRect">
            <a:avLst>
              <a:gd fmla="val 227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70"/>
          <p:cNvSpPr/>
          <p:nvPr/>
        </p:nvSpPr>
        <p:spPr>
          <a:xfrm>
            <a:off x="6812280" y="2286000"/>
            <a:ext cx="640080" cy="64008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4" name="Google Shape;73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5102" y="24588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0"/>
          <p:cNvSpPr/>
          <p:nvPr/>
        </p:nvSpPr>
        <p:spPr>
          <a:xfrm>
            <a:off x="7635240" y="2286000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Password-based encryption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70"/>
          <p:cNvSpPr/>
          <p:nvPr/>
        </p:nvSpPr>
        <p:spPr>
          <a:xfrm>
            <a:off x="6812280" y="3200400"/>
            <a:ext cx="4617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50"/>
              <a:buFont typeface="Calibri"/>
              <a:buNone/>
            </a:pPr>
            <a:r>
              <a:rPr b="0" i="0" lang="en-US" sz="20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Word / Acrobat passwords are vulnerable to brute force, can’t be recovered if lost, and the password must somehow be shared securely.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70"/>
          <p:cNvSpPr/>
          <p:nvPr/>
        </p:nvSpPr>
        <p:spPr>
          <a:xfrm>
            <a:off x="6812280" y="4773168"/>
            <a:ext cx="54864" cy="329184"/>
          </a:xfrm>
          <a:prstGeom prst="rect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70"/>
          <p:cNvSpPr/>
          <p:nvPr/>
        </p:nvSpPr>
        <p:spPr>
          <a:xfrm>
            <a:off x="6967728" y="4736592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1300"/>
              <a:buFont typeface="Calibri"/>
              <a:buNone/>
            </a:pPr>
            <a:r>
              <a:rPr b="1" i="1" lang="en-US" sz="1600" u="none" cap="none" strike="noStrike">
                <a:solidFill>
                  <a:srgbClr val="4E6079"/>
                </a:solidFill>
                <a:latin typeface="Calibri"/>
                <a:ea typeface="Calibri"/>
                <a:cs typeface="Calibri"/>
                <a:sym typeface="Calibri"/>
              </a:rPr>
              <a:t>Stuck on 1990s technology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1"/>
          <p:cNvSpPr/>
          <p:nvPr/>
        </p:nvSpPr>
        <p:spPr>
          <a:xfrm>
            <a:off x="7680960" y="365760"/>
            <a:ext cx="42978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3A54"/>
              </a:buClr>
              <a:buSzPts val="30000"/>
              <a:buFont typeface="Trebuchet MS"/>
              <a:buNone/>
            </a:pPr>
            <a:r>
              <a:rPr b="1" i="0" lang="en-US" sz="30000" u="none" cap="none" strike="noStrike">
                <a:solidFill>
                  <a:srgbClr val="263A54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3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71"/>
          <p:cNvSpPr/>
          <p:nvPr/>
        </p:nvSpPr>
        <p:spPr>
          <a:xfrm>
            <a:off x="548640" y="1828800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3CDD7"/>
                </a:solidFill>
                <a:latin typeface="Trebuchet MS"/>
                <a:ea typeface="Trebuchet MS"/>
                <a:cs typeface="Trebuchet MS"/>
                <a:sym typeface="Trebuchet MS"/>
              </a:rPr>
              <a:t>SECTION  2 /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71"/>
          <p:cNvSpPr/>
          <p:nvPr/>
        </p:nvSpPr>
        <p:spPr>
          <a:xfrm>
            <a:off x="521208" y="2240280"/>
            <a:ext cx="7863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Trebuchet MS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71"/>
          <p:cNvSpPr/>
          <p:nvPr/>
        </p:nvSpPr>
        <p:spPr>
          <a:xfrm>
            <a:off x="548650" y="3703325"/>
            <a:ext cx="7283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Encryption and passwordless authentication building blocks and</a:t>
            </a:r>
            <a:br>
              <a:rPr lang="en-US" sz="1800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framework and evaluation showing no current method provides all benefits.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71"/>
          <p:cNvSpPr/>
          <p:nvPr/>
        </p:nvSpPr>
        <p:spPr>
          <a:xfrm>
            <a:off x="548640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71"/>
          <p:cNvSpPr/>
          <p:nvPr/>
        </p:nvSpPr>
        <p:spPr>
          <a:xfrm>
            <a:off x="548640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71"/>
          <p:cNvSpPr/>
          <p:nvPr/>
        </p:nvSpPr>
        <p:spPr>
          <a:xfrm>
            <a:off x="2789469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71"/>
          <p:cNvSpPr/>
          <p:nvPr/>
        </p:nvSpPr>
        <p:spPr>
          <a:xfrm>
            <a:off x="2789469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71"/>
          <p:cNvSpPr/>
          <p:nvPr/>
        </p:nvSpPr>
        <p:spPr>
          <a:xfrm>
            <a:off x="5030297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71"/>
          <p:cNvSpPr/>
          <p:nvPr/>
        </p:nvSpPr>
        <p:spPr>
          <a:xfrm>
            <a:off x="5030297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71"/>
          <p:cNvSpPr/>
          <p:nvPr/>
        </p:nvSpPr>
        <p:spPr>
          <a:xfrm>
            <a:off x="7271126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71"/>
          <p:cNvSpPr/>
          <p:nvPr/>
        </p:nvSpPr>
        <p:spPr>
          <a:xfrm>
            <a:off x="7271126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71"/>
          <p:cNvSpPr/>
          <p:nvPr/>
        </p:nvSpPr>
        <p:spPr>
          <a:xfrm>
            <a:off x="9511955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71"/>
          <p:cNvSpPr/>
          <p:nvPr/>
        </p:nvSpPr>
        <p:spPr>
          <a:xfrm>
            <a:off x="9511955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3" name="Google Shape;763;p72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72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72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72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72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72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72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ramework of 15 benefits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72"/>
          <p:cNvSpPr/>
          <p:nvPr/>
        </p:nvSpPr>
        <p:spPr>
          <a:xfrm>
            <a:off x="385363" y="1659688"/>
            <a:ext cx="3612000" cy="3247200"/>
          </a:xfrm>
          <a:prstGeom prst="roundRect">
            <a:avLst>
              <a:gd fmla="val 227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71" name="Google Shape;771;p72"/>
          <p:cNvSpPr/>
          <p:nvPr/>
        </p:nvSpPr>
        <p:spPr>
          <a:xfrm>
            <a:off x="385353" y="1659693"/>
            <a:ext cx="3612000" cy="567000"/>
          </a:xfrm>
          <a:prstGeom prst="roundRect">
            <a:avLst>
              <a:gd fmla="val 14516" name="adj"/>
            </a:avLst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72" name="Google Shape;772;p72"/>
          <p:cNvSpPr/>
          <p:nvPr/>
        </p:nvSpPr>
        <p:spPr>
          <a:xfrm>
            <a:off x="385353" y="1943157"/>
            <a:ext cx="3612000" cy="283500"/>
          </a:xfrm>
          <a:prstGeom prst="rect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73" name="Google Shape;773;p72"/>
          <p:cNvSpPr/>
          <p:nvPr/>
        </p:nvSpPr>
        <p:spPr>
          <a:xfrm>
            <a:off x="659672" y="1659693"/>
            <a:ext cx="3063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Usability  (5)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72"/>
          <p:cNvSpPr/>
          <p:nvPr/>
        </p:nvSpPr>
        <p:spPr>
          <a:xfrm>
            <a:off x="705392" y="2409501"/>
            <a:ext cx="30174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Memorywise-effortless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Scalable for users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Easy to learn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Easy recovery from loss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Seamless sharing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72"/>
          <p:cNvSpPr/>
          <p:nvPr/>
        </p:nvSpPr>
        <p:spPr>
          <a:xfrm>
            <a:off x="4289850" y="1659688"/>
            <a:ext cx="3612000" cy="3247200"/>
          </a:xfrm>
          <a:prstGeom prst="roundRect">
            <a:avLst>
              <a:gd fmla="val 227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76" name="Google Shape;776;p72"/>
          <p:cNvSpPr/>
          <p:nvPr/>
        </p:nvSpPr>
        <p:spPr>
          <a:xfrm>
            <a:off x="4289841" y="1659693"/>
            <a:ext cx="3612000" cy="567000"/>
          </a:xfrm>
          <a:prstGeom prst="roundRect">
            <a:avLst>
              <a:gd fmla="val 14516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77" name="Google Shape;777;p72"/>
          <p:cNvSpPr/>
          <p:nvPr/>
        </p:nvSpPr>
        <p:spPr>
          <a:xfrm>
            <a:off x="4289841" y="1943157"/>
            <a:ext cx="3612000" cy="283500"/>
          </a:xfrm>
          <a:prstGeom prst="rect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78" name="Google Shape;778;p72"/>
          <p:cNvSpPr/>
          <p:nvPr/>
        </p:nvSpPr>
        <p:spPr>
          <a:xfrm>
            <a:off x="4564161" y="1659693"/>
            <a:ext cx="3063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Deployability  (6)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72"/>
          <p:cNvSpPr/>
          <p:nvPr/>
        </p:nvSpPr>
        <p:spPr>
          <a:xfrm>
            <a:off x="4609881" y="2409501"/>
            <a:ext cx="30174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Negligible cost per user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Negligible IT support cost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Compatible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Non-proprietary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Guest-friendly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72"/>
          <p:cNvSpPr/>
          <p:nvPr/>
        </p:nvSpPr>
        <p:spPr>
          <a:xfrm>
            <a:off x="8194338" y="1659688"/>
            <a:ext cx="3612000" cy="3247200"/>
          </a:xfrm>
          <a:prstGeom prst="roundRect">
            <a:avLst>
              <a:gd fmla="val 227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81" name="Google Shape;781;p72"/>
          <p:cNvSpPr/>
          <p:nvPr/>
        </p:nvSpPr>
        <p:spPr>
          <a:xfrm>
            <a:off x="8194329" y="1659693"/>
            <a:ext cx="3612000" cy="567000"/>
          </a:xfrm>
          <a:prstGeom prst="roundRect">
            <a:avLst>
              <a:gd fmla="val 14516" name="adj"/>
            </a:avLst>
          </a:prstGeom>
          <a:solidFill>
            <a:srgbClr val="2C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82" name="Google Shape;782;p72"/>
          <p:cNvSpPr/>
          <p:nvPr/>
        </p:nvSpPr>
        <p:spPr>
          <a:xfrm>
            <a:off x="8194329" y="1943157"/>
            <a:ext cx="3612000" cy="283500"/>
          </a:xfrm>
          <a:prstGeom prst="rect">
            <a:avLst/>
          </a:prstGeom>
          <a:solidFill>
            <a:srgbClr val="2C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83" name="Google Shape;783;p72"/>
          <p:cNvSpPr/>
          <p:nvPr/>
        </p:nvSpPr>
        <p:spPr>
          <a:xfrm>
            <a:off x="8468649" y="1659693"/>
            <a:ext cx="3063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Security  (4)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72"/>
          <p:cNvSpPr/>
          <p:nvPr/>
        </p:nvSpPr>
        <p:spPr>
          <a:xfrm>
            <a:off x="8514369" y="2409501"/>
            <a:ext cx="30174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Resilient to observation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Resilient to guessing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Resilient to third-party leak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E3A45"/>
              </a:buClr>
              <a:buSzPts val="1950"/>
              <a:buFont typeface="Calibri"/>
              <a:buChar char="•"/>
            </a:pPr>
            <a:r>
              <a:rPr b="0" i="0" lang="en-US" sz="19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Recipient-bound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0" name="Google Shape;790;p73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73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73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73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73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73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73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No existing method does it all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7" name="Google Shape;797;p73" title="Screenshot 2025-09-04 at 11.15.20 PM.png"/>
          <p:cNvPicPr preferRelativeResize="0"/>
          <p:nvPr/>
        </p:nvPicPr>
        <p:blipFill rotWithShape="1">
          <a:blip r:embed="rId3">
            <a:alphaModFix/>
          </a:blip>
          <a:srcRect b="0" l="0" r="0" t="7442"/>
          <a:stretch/>
        </p:blipFill>
        <p:spPr>
          <a:xfrm>
            <a:off x="452925" y="1220050"/>
            <a:ext cx="11285827" cy="498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4"/>
          <p:cNvSpPr txBox="1"/>
          <p:nvPr>
            <p:ph type="title"/>
          </p:nvPr>
        </p:nvSpPr>
        <p:spPr>
          <a:xfrm>
            <a:off x="304792" y="1227900"/>
            <a:ext cx="8310300" cy="1261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Sept 2025, Doc Eng Nottingham, UK</a:t>
            </a:r>
            <a:endParaRPr/>
          </a:p>
        </p:txBody>
      </p:sp>
      <p:pic>
        <p:nvPicPr>
          <p:cNvPr id="803" name="Google Shape;803;p74" title="Screenshot 2026-01-08 at 1.32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95" y="6035469"/>
            <a:ext cx="11785287" cy="356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2062" y="779067"/>
            <a:ext cx="4204819" cy="560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3389" y="2830933"/>
            <a:ext cx="2782845" cy="356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637" y="2830933"/>
            <a:ext cx="2670355" cy="3561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2" name="Google Shape;812;p75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75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75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75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75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75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75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block 1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 age encryption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75"/>
          <p:cNvSpPr/>
          <p:nvPr/>
        </p:nvSpPr>
        <p:spPr>
          <a:xfrm>
            <a:off x="548640" y="2011680"/>
            <a:ext cx="4160520" cy="3246120"/>
          </a:xfrm>
          <a:prstGeom prst="roundRect">
            <a:avLst>
              <a:gd fmla="val 2817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ssets/age.png" id="820" name="Google Shape;82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0" y="2526000"/>
            <a:ext cx="3612000" cy="18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5"/>
          <p:cNvSpPr/>
          <p:nvPr/>
        </p:nvSpPr>
        <p:spPr>
          <a:xfrm>
            <a:off x="822960" y="4306808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300"/>
              <a:buFont typeface="Calibri"/>
              <a:buNone/>
            </a:pPr>
            <a:r>
              <a:rPr i="1" lang="en-US" sz="170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age: o</a:t>
            </a:r>
            <a:r>
              <a:rPr b="0" i="1" lang="en-US" sz="170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pen-source file encryption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2" name="Google Shape;82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21031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5"/>
          <p:cNvSpPr/>
          <p:nvPr/>
        </p:nvSpPr>
        <p:spPr>
          <a:xfrm>
            <a:off x="5532120" y="2011680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Per-file keys 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— A unique 128-bit key wraps each individual file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not one shared secret.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4" name="Google Shape;824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2907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5"/>
          <p:cNvSpPr/>
          <p:nvPr/>
        </p:nvSpPr>
        <p:spPr>
          <a:xfrm>
            <a:off x="5532120" y="2816352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Multi-recipient 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— A file can be encrypted to several recipients, each decrypting independently.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6" name="Google Shape;82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37124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5"/>
          <p:cNvSpPr/>
          <p:nvPr/>
        </p:nvSpPr>
        <p:spPr>
          <a:xfrm>
            <a:off x="5532120" y="3621024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Post-quantum ready 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— Native hybrid ML-KEM-768 recipients (age 1.3.0) for crypto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graphic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agility.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8" name="Google Shape;828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45171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5"/>
          <p:cNvSpPr/>
          <p:nvPr/>
        </p:nvSpPr>
        <p:spPr>
          <a:xfrm>
            <a:off x="5532120" y="4425696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r>
              <a:rPr b="1" lang="en-US" sz="1600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-source</a:t>
            </a:r>
            <a:r>
              <a:rPr b="1" i="0" lang="en-US" sz="16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— Simple format, no licensing fees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 S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atisfies the non-proprietary requirement.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5" name="Google Shape;835;p76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6" name="Google Shape;836;p76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6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76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76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76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76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block 2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 FIDO2 (passke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ys) 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+ WebAuthn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2" name="Google Shape;84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0945"/>
            <a:ext cx="12191677" cy="2994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7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FIDO2 (passke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ys) 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ha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ve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 reached widespread adoption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7"/>
          <p:cNvSpPr/>
          <p:nvPr/>
        </p:nvSpPr>
        <p:spPr>
          <a:xfrm>
            <a:off x="548640" y="1113500"/>
            <a:ext cx="110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Backed by Google, Microsoft, and Apple</a:t>
            </a:r>
            <a:r>
              <a:rPr lang="en-US" sz="15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5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r>
              <a:rPr b="0" i="0" lang="en-US" sz="15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supported across browsers, operating systems, and major websites.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77"/>
          <p:cNvSpPr/>
          <p:nvPr/>
        </p:nvSpPr>
        <p:spPr>
          <a:xfrm>
            <a:off x="330440" y="2148840"/>
            <a:ext cx="269760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77"/>
          <p:cNvSpPr/>
          <p:nvPr/>
        </p:nvSpPr>
        <p:spPr>
          <a:xfrm>
            <a:off x="513320" y="256032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billion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2" name="Google Shape;852;p77"/>
          <p:cNvCxnSpPr/>
          <p:nvPr/>
        </p:nvCxnSpPr>
        <p:spPr>
          <a:xfrm>
            <a:off x="970520" y="3566160"/>
            <a:ext cx="1417200" cy="0"/>
          </a:xfrm>
          <a:prstGeom prst="straightConnector1">
            <a:avLst/>
          </a:prstGeom>
          <a:noFill/>
          <a:ln cap="flat" cmpd="sng" w="12700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3" name="Google Shape;853;p77"/>
          <p:cNvSpPr/>
          <p:nvPr/>
        </p:nvSpPr>
        <p:spPr>
          <a:xfrm>
            <a:off x="586472" y="3685032"/>
            <a:ext cx="21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active passkeys in use globally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77"/>
          <p:cNvSpPr/>
          <p:nvPr/>
        </p:nvSpPr>
        <p:spPr>
          <a:xfrm>
            <a:off x="3274808" y="2148840"/>
            <a:ext cx="2697600" cy="2286000"/>
          </a:xfrm>
          <a:prstGeom prst="roundRect">
            <a:avLst>
              <a:gd fmla="val 3200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77"/>
          <p:cNvSpPr/>
          <p:nvPr/>
        </p:nvSpPr>
        <p:spPr>
          <a:xfrm>
            <a:off x="3457688" y="256032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90%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6" name="Google Shape;856;p77"/>
          <p:cNvCxnSpPr/>
          <p:nvPr/>
        </p:nvCxnSpPr>
        <p:spPr>
          <a:xfrm>
            <a:off x="3914888" y="3566160"/>
            <a:ext cx="1417200" cy="0"/>
          </a:xfrm>
          <a:prstGeom prst="straightConnector1">
            <a:avLst/>
          </a:prstGeom>
          <a:noFill/>
          <a:ln cap="flat" cmpd="sng" w="12700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7" name="Google Shape;857;p77"/>
          <p:cNvSpPr/>
          <p:nvPr/>
        </p:nvSpPr>
        <p:spPr>
          <a:xfrm>
            <a:off x="3530840" y="3685032"/>
            <a:ext cx="21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of consumers are familiar with passkeys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77"/>
          <p:cNvSpPr/>
          <p:nvPr/>
        </p:nvSpPr>
        <p:spPr>
          <a:xfrm>
            <a:off x="6219176" y="2148840"/>
            <a:ext cx="269760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7"/>
          <p:cNvSpPr/>
          <p:nvPr/>
        </p:nvSpPr>
        <p:spPr>
          <a:xfrm>
            <a:off x="6402056" y="256032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75%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0" name="Google Shape;860;p77"/>
          <p:cNvCxnSpPr/>
          <p:nvPr/>
        </p:nvCxnSpPr>
        <p:spPr>
          <a:xfrm>
            <a:off x="6859256" y="3566160"/>
            <a:ext cx="1417200" cy="0"/>
          </a:xfrm>
          <a:prstGeom prst="straightConnector1">
            <a:avLst/>
          </a:prstGeom>
          <a:noFill/>
          <a:ln cap="flat" cmpd="sng" w="12700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77"/>
          <p:cNvSpPr/>
          <p:nvPr/>
        </p:nvSpPr>
        <p:spPr>
          <a:xfrm>
            <a:off x="6475208" y="3685032"/>
            <a:ext cx="21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have enabled passkeys on some accounts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77"/>
          <p:cNvSpPr/>
          <p:nvPr/>
        </p:nvSpPr>
        <p:spPr>
          <a:xfrm>
            <a:off x="9163544" y="2148840"/>
            <a:ext cx="2697600" cy="2286000"/>
          </a:xfrm>
          <a:prstGeom prst="roundRect">
            <a:avLst>
              <a:gd fmla="val 3200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77"/>
          <p:cNvSpPr/>
          <p:nvPr/>
        </p:nvSpPr>
        <p:spPr>
          <a:xfrm>
            <a:off x="9346424" y="256032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68%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4" name="Google Shape;864;p77"/>
          <p:cNvCxnSpPr/>
          <p:nvPr/>
        </p:nvCxnSpPr>
        <p:spPr>
          <a:xfrm>
            <a:off x="9803624" y="3566160"/>
            <a:ext cx="1417200" cy="0"/>
          </a:xfrm>
          <a:prstGeom prst="straightConnector1">
            <a:avLst/>
          </a:prstGeom>
          <a:noFill/>
          <a:ln cap="flat" cmpd="sng" w="12700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77"/>
          <p:cNvSpPr/>
          <p:nvPr/>
        </p:nvSpPr>
        <p:spPr>
          <a:xfrm>
            <a:off x="9419576" y="3685032"/>
            <a:ext cx="21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of organizations deploying or piloting passkeys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77"/>
          <p:cNvSpPr/>
          <p:nvPr/>
        </p:nvSpPr>
        <p:spPr>
          <a:xfrm>
            <a:off x="586475" y="4709109"/>
            <a:ext cx="10362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50"/>
              <a:buFont typeface="Calibri"/>
              <a:buNone/>
            </a:pPr>
            <a:r>
              <a:rPr b="1" i="0" lang="en-US" sz="13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Source:  </a:t>
            </a:r>
            <a:r>
              <a:rPr b="0" i="0" lang="en-US" sz="13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FIDO Alliance, </a:t>
            </a:r>
            <a:r>
              <a:rPr b="0" i="1" lang="en-US" sz="13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State of Passkeys 2026</a:t>
            </a:r>
            <a:r>
              <a:rPr b="0" i="0" lang="en-US" sz="13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 — survey of 11,000 consumers across ten countries.</a:t>
            </a:r>
            <a:endParaRPr b="0" i="0" sz="1350" u="none" cap="none" strike="noStrike">
              <a:solidFill>
                <a:srgbClr val="8893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77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p77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77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77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7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77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8" name="Google Shape;878;p78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9" name="Google Shape;879;p78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78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78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78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78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78"/>
          <p:cNvSpPr/>
          <p:nvPr/>
        </p:nvSpPr>
        <p:spPr>
          <a:xfrm>
            <a:off x="473090" y="410665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block 3:</a:t>
            </a:r>
            <a:b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WebAuthn PRF 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5" name="Google Shape;885;p78"/>
          <p:cNvGrpSpPr/>
          <p:nvPr/>
        </p:nvGrpSpPr>
        <p:grpSpPr>
          <a:xfrm>
            <a:off x="548650" y="1698514"/>
            <a:ext cx="2886900" cy="3825002"/>
            <a:chOff x="8680075" y="1462075"/>
            <a:chExt cx="2886900" cy="4024200"/>
          </a:xfrm>
        </p:grpSpPr>
        <p:sp>
          <p:nvSpPr>
            <p:cNvPr id="886" name="Google Shape;886;p78"/>
            <p:cNvSpPr/>
            <p:nvPr/>
          </p:nvSpPr>
          <p:spPr>
            <a:xfrm>
              <a:off x="8680075" y="1462075"/>
              <a:ext cx="2886900" cy="4024200"/>
            </a:xfrm>
            <a:prstGeom prst="roundRect">
              <a:avLst>
                <a:gd fmla="val 2632" name="adj"/>
              </a:avLst>
            </a:prstGeom>
            <a:solidFill>
              <a:srgbClr val="F3F5F8"/>
            </a:solidFill>
            <a:ln>
              <a:noFill/>
            </a:ln>
            <a:effectLst>
              <a:outerShdw blurRad="97067" rotWithShape="0" algn="bl" dir="5400000" dist="32356">
                <a:srgbClr val="22384A">
                  <a:alpha val="16078"/>
                </a:srgbClr>
              </a:outerShdw>
            </a:effectLst>
          </p:spPr>
          <p:txBody>
            <a:bodyPr anchorCtr="0" anchor="ctr" bIns="77650" lIns="77650" spcFirstLastPara="1" rIns="77650" wrap="square" tIns="7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9"/>
            </a:p>
          </p:txBody>
        </p:sp>
        <p:sp>
          <p:nvSpPr>
            <p:cNvPr id="887" name="Google Shape;887;p78"/>
            <p:cNvSpPr/>
            <p:nvPr/>
          </p:nvSpPr>
          <p:spPr>
            <a:xfrm>
              <a:off x="8776973" y="1719300"/>
              <a:ext cx="26931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364F"/>
                </a:buClr>
                <a:buSzPts val="1444"/>
                <a:buFont typeface="Trebuchet MS"/>
                <a:buNone/>
              </a:pPr>
              <a:r>
                <a:rPr b="1" i="0" lang="en-US" sz="1844" u="none" cap="none" strike="noStrike">
                  <a:solidFill>
                    <a:srgbClr val="2236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From login to keys</a:t>
              </a:r>
              <a:endParaRPr b="0" i="0" sz="184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78"/>
            <p:cNvSpPr/>
            <p:nvPr/>
          </p:nvSpPr>
          <p:spPr>
            <a:xfrm>
              <a:off x="8825425" y="2328537"/>
              <a:ext cx="2596200" cy="28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3A45"/>
                </a:buClr>
                <a:buSzPts val="1231"/>
                <a:buFont typeface="Calibri"/>
                <a:buNone/>
              </a:pPr>
              <a:r>
                <a:rPr b="0" i="0" lang="en-US" sz="1631" u="none" cap="none" strike="noStrike">
                  <a:solidFill>
                    <a:srgbClr val="2E3A45"/>
                  </a:solidFill>
                  <a:latin typeface="Calibri"/>
                  <a:ea typeface="Calibri"/>
                  <a:cs typeface="Calibri"/>
                  <a:sym typeface="Calibri"/>
                </a:rPr>
                <a:t>The PRF extension lets a passkey output a </a:t>
              </a:r>
              <a:r>
                <a:rPr b="1" i="0" lang="en-US" sz="1631" u="none" cap="none" strike="noStrike">
                  <a:solidFill>
                    <a:srgbClr val="2C4258"/>
                  </a:solidFill>
                  <a:latin typeface="Calibri"/>
                  <a:ea typeface="Calibri"/>
                  <a:cs typeface="Calibri"/>
                  <a:sym typeface="Calibri"/>
                </a:rPr>
                <a:t>32-byte secret</a:t>
              </a:r>
              <a:r>
                <a:rPr b="0" i="0" lang="en-US" sz="1631" u="none" cap="none" strike="noStrike">
                  <a:solidFill>
                    <a:srgbClr val="2E3A45"/>
                  </a:solidFill>
                  <a:latin typeface="Calibri"/>
                  <a:ea typeface="Calibri"/>
                  <a:cs typeface="Calibri"/>
                  <a:sym typeface="Calibri"/>
                </a:rPr>
                <a:t> derived inside the authenticator.</a:t>
              </a:r>
              <a:br>
                <a:rPr b="0" i="0" lang="en-US" sz="1631" u="none" cap="none" strike="noStrike">
                  <a:solidFill>
                    <a:srgbClr val="2E3A45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631" u="none" cap="none" strike="noStrike">
                  <a:solidFill>
                    <a:srgbClr val="2E3A45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631" u="none" cap="none" strike="noStrike">
                  <a:solidFill>
                    <a:srgbClr val="2E3A45"/>
                  </a:solidFill>
                  <a:latin typeface="Calibri"/>
                  <a:ea typeface="Calibri"/>
                  <a:cs typeface="Calibri"/>
                  <a:sym typeface="Calibri"/>
                </a:rPr>
                <a:t>The secret key </a:t>
              </a:r>
              <a:r>
                <a:rPr b="1" i="0" lang="en-US" sz="1631" u="none" cap="none" strike="noStrike">
                  <a:solidFill>
                    <a:srgbClr val="22364F"/>
                  </a:solidFill>
                  <a:latin typeface="Calibri"/>
                  <a:ea typeface="Calibri"/>
                  <a:cs typeface="Calibri"/>
                  <a:sym typeface="Calibri"/>
                </a:rPr>
                <a:t>never leaves the device.</a:t>
              </a:r>
              <a:r>
                <a:rPr b="0" i="0" lang="en-US" sz="1631" u="none" cap="none" strike="noStrike">
                  <a:solidFill>
                    <a:srgbClr val="2E3A45"/>
                  </a:solidFill>
                  <a:latin typeface="Calibri"/>
                  <a:ea typeface="Calibri"/>
                  <a:cs typeface="Calibri"/>
                  <a:sym typeface="Calibri"/>
                </a:rPr>
                <a:t> The app uses the output directly as a symmetric encryption key</a:t>
              </a:r>
              <a:r>
                <a:rPr lang="en-US" sz="1631">
                  <a:solidFill>
                    <a:srgbClr val="2E3A4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63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89" name="Google Shape;88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875" y="0"/>
            <a:ext cx="8160343" cy="6419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5" name="Google Shape;895;p79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6" name="Google Shape;896;p79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79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79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79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79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79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2" name="Google Shape;90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265086"/>
            <a:ext cx="11094298" cy="5975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0"/>
          <p:cNvSpPr/>
          <p:nvPr/>
        </p:nvSpPr>
        <p:spPr>
          <a:xfrm>
            <a:off x="7680960" y="365760"/>
            <a:ext cx="42978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3A54"/>
              </a:buClr>
              <a:buSzPts val="30000"/>
              <a:buFont typeface="Trebuchet MS"/>
              <a:buNone/>
            </a:pPr>
            <a:r>
              <a:rPr b="1" i="0" lang="en-US" sz="30000" u="none" cap="none" strike="noStrike">
                <a:solidFill>
                  <a:srgbClr val="263A54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3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80"/>
          <p:cNvSpPr/>
          <p:nvPr/>
        </p:nvSpPr>
        <p:spPr>
          <a:xfrm>
            <a:off x="548640" y="1828800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3CDD7"/>
                </a:solidFill>
                <a:latin typeface="Trebuchet MS"/>
                <a:ea typeface="Trebuchet MS"/>
                <a:cs typeface="Trebuchet MS"/>
                <a:sym typeface="Trebuchet MS"/>
              </a:rPr>
              <a:t>SECTION  3 /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80"/>
          <p:cNvSpPr/>
          <p:nvPr/>
        </p:nvSpPr>
        <p:spPr>
          <a:xfrm>
            <a:off x="521208" y="2240280"/>
            <a:ext cx="7863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Trebuchet MS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Design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80"/>
          <p:cNvSpPr/>
          <p:nvPr/>
        </p:nvSpPr>
        <p:spPr>
          <a:xfrm>
            <a:off x="548650" y="3703325"/>
            <a:ext cx="5328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A novel system bringing age and WebAuthn PRF together in a working prototype.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80"/>
          <p:cNvSpPr/>
          <p:nvPr/>
        </p:nvSpPr>
        <p:spPr>
          <a:xfrm>
            <a:off x="548640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80"/>
          <p:cNvSpPr/>
          <p:nvPr/>
        </p:nvSpPr>
        <p:spPr>
          <a:xfrm>
            <a:off x="548640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80"/>
          <p:cNvSpPr/>
          <p:nvPr/>
        </p:nvSpPr>
        <p:spPr>
          <a:xfrm>
            <a:off x="2789469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80"/>
          <p:cNvSpPr/>
          <p:nvPr/>
        </p:nvSpPr>
        <p:spPr>
          <a:xfrm>
            <a:off x="2789469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80"/>
          <p:cNvSpPr/>
          <p:nvPr/>
        </p:nvSpPr>
        <p:spPr>
          <a:xfrm>
            <a:off x="5030297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0"/>
          <p:cNvSpPr/>
          <p:nvPr/>
        </p:nvSpPr>
        <p:spPr>
          <a:xfrm>
            <a:off x="5030297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80"/>
          <p:cNvSpPr/>
          <p:nvPr/>
        </p:nvSpPr>
        <p:spPr>
          <a:xfrm>
            <a:off x="7271126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80"/>
          <p:cNvSpPr/>
          <p:nvPr/>
        </p:nvSpPr>
        <p:spPr>
          <a:xfrm>
            <a:off x="7271126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80"/>
          <p:cNvSpPr/>
          <p:nvPr/>
        </p:nvSpPr>
        <p:spPr>
          <a:xfrm>
            <a:off x="9511955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80"/>
          <p:cNvSpPr/>
          <p:nvPr/>
        </p:nvSpPr>
        <p:spPr>
          <a:xfrm>
            <a:off x="9511955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7" name="Google Shape;927;p81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8" name="Google Shape;928;p81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81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81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81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81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Three phases of design-based research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81"/>
          <p:cNvSpPr/>
          <p:nvPr/>
        </p:nvSpPr>
        <p:spPr>
          <a:xfrm>
            <a:off x="385340" y="1828800"/>
            <a:ext cx="3612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81"/>
          <p:cNvSpPr/>
          <p:nvPr/>
        </p:nvSpPr>
        <p:spPr>
          <a:xfrm>
            <a:off x="1779800" y="2240280"/>
            <a:ext cx="822900" cy="8229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5" name="Google Shape;93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1999" y="246247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1"/>
          <p:cNvSpPr/>
          <p:nvPr/>
        </p:nvSpPr>
        <p:spPr>
          <a:xfrm>
            <a:off x="659660" y="3246120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1. Framework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81"/>
          <p:cNvSpPr/>
          <p:nvPr/>
        </p:nvSpPr>
        <p:spPr>
          <a:xfrm>
            <a:off x="705380" y="3749040"/>
            <a:ext cx="297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Build a comparative framework and systematically evaluate existing document encryption methods.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81"/>
          <p:cNvSpPr/>
          <p:nvPr/>
        </p:nvSpPr>
        <p:spPr>
          <a:xfrm>
            <a:off x="659660" y="4572000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r>
              <a:rPr b="1" i="1" lang="en-US" sz="1200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120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81"/>
          <p:cNvSpPr/>
          <p:nvPr/>
        </p:nvSpPr>
        <p:spPr>
          <a:xfrm>
            <a:off x="3960644" y="315468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4E6079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81"/>
          <p:cNvSpPr/>
          <p:nvPr/>
        </p:nvSpPr>
        <p:spPr>
          <a:xfrm>
            <a:off x="4289828" y="1828800"/>
            <a:ext cx="3612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81"/>
          <p:cNvSpPr/>
          <p:nvPr/>
        </p:nvSpPr>
        <p:spPr>
          <a:xfrm>
            <a:off x="5684288" y="2240280"/>
            <a:ext cx="822900" cy="8229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2" name="Google Shape;942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6487" y="246247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1"/>
          <p:cNvSpPr/>
          <p:nvPr/>
        </p:nvSpPr>
        <p:spPr>
          <a:xfrm>
            <a:off x="4564148" y="3246120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2. System Design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81"/>
          <p:cNvSpPr/>
          <p:nvPr/>
        </p:nvSpPr>
        <p:spPr>
          <a:xfrm>
            <a:off x="4609868" y="3749040"/>
            <a:ext cx="297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Derive design requirements and iteratively build a prototype</a:t>
            </a:r>
            <a:r>
              <a:rPr lang="en-US" sz="13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81"/>
          <p:cNvSpPr/>
          <p:nvPr/>
        </p:nvSpPr>
        <p:spPr>
          <a:xfrm>
            <a:off x="4564148" y="4572000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Chapter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81"/>
          <p:cNvSpPr/>
          <p:nvPr/>
        </p:nvSpPr>
        <p:spPr>
          <a:xfrm>
            <a:off x="7865132" y="315468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4E6079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81"/>
          <p:cNvSpPr/>
          <p:nvPr/>
        </p:nvSpPr>
        <p:spPr>
          <a:xfrm>
            <a:off x="8194316" y="1828800"/>
            <a:ext cx="3612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1"/>
          <p:cNvSpPr/>
          <p:nvPr/>
        </p:nvSpPr>
        <p:spPr>
          <a:xfrm>
            <a:off x="9588776" y="2240280"/>
            <a:ext cx="822900" cy="8229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9" name="Google Shape;949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975" y="246247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1"/>
          <p:cNvSpPr/>
          <p:nvPr/>
        </p:nvSpPr>
        <p:spPr>
          <a:xfrm>
            <a:off x="8468636" y="3246120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3. User Study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81"/>
          <p:cNvSpPr/>
          <p:nvPr/>
        </p:nvSpPr>
        <p:spPr>
          <a:xfrm>
            <a:off x="8514356" y="3749040"/>
            <a:ext cx="297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Run a controlled, within-subjects study comparing </a:t>
            </a:r>
            <a:r>
              <a:rPr lang="en-US" sz="13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the new system </a:t>
            </a:r>
            <a:r>
              <a:rPr b="0" i="0" lang="en-US" sz="13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against password-based encryption.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81"/>
          <p:cNvSpPr/>
          <p:nvPr/>
        </p:nvSpPr>
        <p:spPr>
          <a:xfrm>
            <a:off x="8468636" y="4572000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Chapters 6 &amp;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81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81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81"/>
          <p:cNvSpPr/>
          <p:nvPr/>
        </p:nvSpPr>
        <p:spPr>
          <a:xfrm>
            <a:off x="4023398" y="641913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81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81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3" name="Google Shape;963;p82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4" name="Google Shape;964;p82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82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82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82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82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82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Designed &amp; implemented system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82"/>
          <p:cNvSpPr/>
          <p:nvPr/>
        </p:nvSpPr>
        <p:spPr>
          <a:xfrm>
            <a:off x="548678" y="1707635"/>
            <a:ext cx="3383400" cy="1417200"/>
          </a:xfrm>
          <a:prstGeom prst="roundRect">
            <a:avLst>
              <a:gd fmla="val 6452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1" name="Google Shape;971;p82"/>
          <p:cNvSpPr/>
          <p:nvPr/>
        </p:nvSpPr>
        <p:spPr>
          <a:xfrm>
            <a:off x="822997" y="1908803"/>
            <a:ext cx="2834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7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age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82"/>
          <p:cNvSpPr/>
          <p:nvPr/>
        </p:nvSpPr>
        <p:spPr>
          <a:xfrm>
            <a:off x="822997" y="2347715"/>
            <a:ext cx="283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per-file, multi-recipient, open-source, PQ-ready encryption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82"/>
          <p:cNvSpPr/>
          <p:nvPr/>
        </p:nvSpPr>
        <p:spPr>
          <a:xfrm>
            <a:off x="3913670" y="2073395"/>
            <a:ext cx="320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26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4E6079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82"/>
          <p:cNvSpPr/>
          <p:nvPr/>
        </p:nvSpPr>
        <p:spPr>
          <a:xfrm>
            <a:off x="4251997" y="1707635"/>
            <a:ext cx="3383400" cy="1417200"/>
          </a:xfrm>
          <a:prstGeom prst="roundRect">
            <a:avLst>
              <a:gd fmla="val 6452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5" name="Google Shape;975;p82"/>
          <p:cNvSpPr/>
          <p:nvPr/>
        </p:nvSpPr>
        <p:spPr>
          <a:xfrm>
            <a:off x="4526318" y="1908803"/>
            <a:ext cx="2834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7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FIDO2 passkeys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82"/>
          <p:cNvSpPr/>
          <p:nvPr/>
        </p:nvSpPr>
        <p:spPr>
          <a:xfrm>
            <a:off x="4526318" y="2347715"/>
            <a:ext cx="283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fairly familiar, </a:t>
            </a:r>
            <a:r>
              <a:rPr b="0" i="0" lang="en-US" sz="15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non-custodial, phishing-resistant identity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82"/>
          <p:cNvSpPr/>
          <p:nvPr/>
        </p:nvSpPr>
        <p:spPr>
          <a:xfrm>
            <a:off x="7616990" y="2073395"/>
            <a:ext cx="320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26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4E6079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82"/>
          <p:cNvSpPr/>
          <p:nvPr/>
        </p:nvSpPr>
        <p:spPr>
          <a:xfrm>
            <a:off x="7955318" y="1707635"/>
            <a:ext cx="3383400" cy="1417200"/>
          </a:xfrm>
          <a:prstGeom prst="roundRect">
            <a:avLst>
              <a:gd fmla="val 6452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9" name="Google Shape;979;p82"/>
          <p:cNvSpPr/>
          <p:nvPr/>
        </p:nvSpPr>
        <p:spPr>
          <a:xfrm>
            <a:off x="8229638" y="1908803"/>
            <a:ext cx="2834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7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WebAuthn PRF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82"/>
          <p:cNvSpPr/>
          <p:nvPr/>
        </p:nvSpPr>
        <p:spPr>
          <a:xfrm>
            <a:off x="8229638" y="2347715"/>
            <a:ext cx="283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derives </a:t>
            </a:r>
            <a:r>
              <a:rPr lang="en-US" sz="15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r>
              <a:rPr lang="en-US" sz="15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key from </a:t>
            </a:r>
            <a:r>
              <a:rPr b="0" i="0" lang="en-US" sz="15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passkey</a:t>
            </a:r>
            <a:r>
              <a:rPr lang="en-US" sz="15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, for end-to-end encryption per 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82"/>
          <p:cNvSpPr/>
          <p:nvPr/>
        </p:nvSpPr>
        <p:spPr>
          <a:xfrm>
            <a:off x="11320310" y="2073395"/>
            <a:ext cx="320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82"/>
          <p:cNvSpPr/>
          <p:nvPr/>
        </p:nvSpPr>
        <p:spPr>
          <a:xfrm>
            <a:off x="5821566" y="3262115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1800"/>
              <a:buFont typeface="Trebuchet MS"/>
              <a:buNone/>
            </a:pPr>
            <a:r>
              <a:rPr b="0" i="0" lang="en-US" sz="1800" u="none" cap="none" strike="noStrike">
                <a:solidFill>
                  <a:srgbClr val="4E6079"/>
                </a:solidFill>
                <a:latin typeface="Trebuchet MS"/>
                <a:ea typeface="Trebuchet MS"/>
                <a:cs typeface="Trebuchet MS"/>
                <a:sym typeface="Trebuchet MS"/>
              </a:rPr>
              <a:t>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82"/>
          <p:cNvSpPr/>
          <p:nvPr/>
        </p:nvSpPr>
        <p:spPr>
          <a:xfrm>
            <a:off x="548678" y="3719315"/>
            <a:ext cx="11094300" cy="1691700"/>
          </a:xfrm>
          <a:prstGeom prst="roundRect">
            <a:avLst>
              <a:gd fmla="val 5405" name="adj"/>
            </a:avLst>
          </a:prstGeom>
          <a:solidFill>
            <a:srgbClr val="16202E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82"/>
          <p:cNvSpPr/>
          <p:nvPr/>
        </p:nvSpPr>
        <p:spPr>
          <a:xfrm>
            <a:off x="1005893" y="3902200"/>
            <a:ext cx="635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Passwordless Document Encryption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82"/>
          <p:cNvSpPr/>
          <p:nvPr/>
        </p:nvSpPr>
        <p:spPr>
          <a:xfrm>
            <a:off x="1005878" y="4478267"/>
            <a:ext cx="8351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3DCE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3DCE3"/>
                </a:solidFill>
                <a:latin typeface="Calibri"/>
                <a:ea typeface="Calibri"/>
                <a:cs typeface="Calibri"/>
                <a:sym typeface="Calibri"/>
              </a:rPr>
              <a:t>Non-custodial, passwordless, per-file end-to-end document encryption</a:t>
            </a:r>
            <a:r>
              <a:rPr lang="en-US" sz="1450">
                <a:solidFill>
                  <a:srgbClr val="D3DCE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50" u="none" cap="none" strike="noStrike">
                <a:solidFill>
                  <a:srgbClr val="D3DCE3"/>
                </a:solidFill>
                <a:latin typeface="Calibri"/>
                <a:ea typeface="Calibri"/>
                <a:cs typeface="Calibri"/>
                <a:sym typeface="Calibri"/>
              </a:rPr>
              <a:t>entirely in the browser. </a:t>
            </a:r>
            <a:br>
              <a:rPr b="0" i="0" lang="en-US" sz="1450" u="none" cap="none" strike="noStrike">
                <a:solidFill>
                  <a:srgbClr val="D3DCE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50" u="none" cap="none" strike="noStrike">
                <a:solidFill>
                  <a:srgbClr val="D3DCE3"/>
                </a:solidFill>
                <a:latin typeface="Calibri"/>
                <a:ea typeface="Calibri"/>
                <a:cs typeface="Calibri"/>
                <a:sym typeface="Calibri"/>
              </a:rPr>
              <a:t>The server only holds ciphertext and public keys; encryption and keys never leave the client.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82"/>
          <p:cNvSpPr/>
          <p:nvPr/>
        </p:nvSpPr>
        <p:spPr>
          <a:xfrm>
            <a:off x="10362933" y="4085075"/>
            <a:ext cx="960000" cy="9600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7" name="Google Shape;987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2166" y="4344307"/>
            <a:ext cx="441655" cy="44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3" name="Google Shape;993;p83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4" name="Google Shape;994;p83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3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83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83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83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Google Shape;999;p83"/>
          <p:cNvPicPr preferRelativeResize="0"/>
          <p:nvPr/>
        </p:nvPicPr>
        <p:blipFill rotWithShape="1">
          <a:blip r:embed="rId3">
            <a:alphaModFix/>
          </a:blip>
          <a:srcRect b="0" l="0" r="0" t="2856"/>
          <a:stretch/>
        </p:blipFill>
        <p:spPr>
          <a:xfrm>
            <a:off x="1926538" y="169975"/>
            <a:ext cx="8338596" cy="61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84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6" name="Google Shape;1006;p84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84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84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84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84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84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Functional prototype system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assets/app_ui.png" id="1012" name="Google Shape;101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725" y="1673110"/>
            <a:ext cx="4979998" cy="4129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4"/>
          <p:cNvSpPr/>
          <p:nvPr/>
        </p:nvSpPr>
        <p:spPr>
          <a:xfrm>
            <a:off x="6035040" y="2029968"/>
            <a:ext cx="310896" cy="310896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4"/>
          <p:cNvSpPr/>
          <p:nvPr/>
        </p:nvSpPr>
        <p:spPr>
          <a:xfrm>
            <a:off x="6035040" y="202996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84"/>
          <p:cNvSpPr/>
          <p:nvPr/>
        </p:nvSpPr>
        <p:spPr>
          <a:xfrm>
            <a:off x="6492240" y="1965960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Upload any file</a:t>
            </a:r>
            <a:r>
              <a:rPr b="1" lang="en-US" sz="1700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7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Encrypt or decrypt from a single browser interface</a:t>
            </a:r>
            <a:r>
              <a:rPr lang="en-US" sz="17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 N</a:t>
            </a:r>
            <a:r>
              <a:rPr b="0" i="0" lang="en-US" sz="17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othing to install.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84"/>
          <p:cNvSpPr/>
          <p:nvPr/>
        </p:nvSpPr>
        <p:spPr>
          <a:xfrm>
            <a:off x="6035040" y="2898648"/>
            <a:ext cx="310896" cy="310896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84"/>
          <p:cNvSpPr/>
          <p:nvPr/>
        </p:nvSpPr>
        <p:spPr>
          <a:xfrm>
            <a:off x="6035040" y="28986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84"/>
          <p:cNvSpPr/>
          <p:nvPr/>
        </p:nvSpPr>
        <p:spPr>
          <a:xfrm>
            <a:off x="6492240" y="2834640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Create or use</a:t>
            </a:r>
            <a:r>
              <a:rPr b="1" i="0" lang="en-US" sz="17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 a passkey</a:t>
            </a:r>
            <a:r>
              <a:rPr b="1" lang="en-US" sz="1700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7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Identity is verified with a fingerprint</a:t>
            </a:r>
            <a:r>
              <a:rPr lang="en-US" sz="17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, face scan, </a:t>
            </a:r>
            <a:r>
              <a:rPr b="0" i="0" lang="en-US" sz="17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b="0" i="0" lang="en-US" sz="17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security key.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84"/>
          <p:cNvSpPr/>
          <p:nvPr/>
        </p:nvSpPr>
        <p:spPr>
          <a:xfrm>
            <a:off x="6035040" y="3767328"/>
            <a:ext cx="310896" cy="310896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84"/>
          <p:cNvSpPr/>
          <p:nvPr/>
        </p:nvSpPr>
        <p:spPr>
          <a:xfrm>
            <a:off x="6035040" y="37673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84"/>
          <p:cNvSpPr/>
          <p:nvPr/>
        </p:nvSpPr>
        <p:spPr>
          <a:xfrm>
            <a:off x="6492240" y="3703320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Add recipients by email</a:t>
            </a:r>
            <a:r>
              <a:rPr b="1" lang="en-US" sz="1700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7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age multi-recipient encryption, bound to each recipient's passkey.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84"/>
          <p:cNvSpPr/>
          <p:nvPr/>
        </p:nvSpPr>
        <p:spPr>
          <a:xfrm>
            <a:off x="6035040" y="4636008"/>
            <a:ext cx="310896" cy="310896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84"/>
          <p:cNvSpPr/>
          <p:nvPr/>
        </p:nvSpPr>
        <p:spPr>
          <a:xfrm>
            <a:off x="6035040" y="46360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84"/>
          <p:cNvSpPr/>
          <p:nvPr/>
        </p:nvSpPr>
        <p:spPr>
          <a:xfrm>
            <a:off x="6492250" y="4572000"/>
            <a:ext cx="532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Share a link or download</a:t>
            </a:r>
            <a:r>
              <a:rPr b="1" lang="en-US" sz="1700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7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file downloads for offline-sharing, creates realistic link imitates future features.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0" name="Google Shape;1030;p85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1" name="Google Shape;1031;p85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85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85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85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85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6" name="Google Shape;1036;p85"/>
          <p:cNvPicPr preferRelativeResize="0"/>
          <p:nvPr/>
        </p:nvPicPr>
        <p:blipFill rotWithShape="1">
          <a:blip r:embed="rId3">
            <a:alphaModFix/>
          </a:blip>
          <a:srcRect b="68475" l="0" r="0" t="0"/>
          <a:stretch/>
        </p:blipFill>
        <p:spPr>
          <a:xfrm>
            <a:off x="360637" y="1504872"/>
            <a:ext cx="3580793" cy="25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5"/>
          <p:cNvPicPr preferRelativeResize="0"/>
          <p:nvPr/>
        </p:nvPicPr>
        <p:blipFill rotWithShape="1">
          <a:blip r:embed="rId3">
            <a:alphaModFix/>
          </a:blip>
          <a:srcRect b="28310" l="0" r="0" t="31878"/>
          <a:stretch/>
        </p:blipFill>
        <p:spPr>
          <a:xfrm>
            <a:off x="4305437" y="1875184"/>
            <a:ext cx="3580793" cy="318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5"/>
          <p:cNvPicPr preferRelativeResize="0"/>
          <p:nvPr/>
        </p:nvPicPr>
        <p:blipFill rotWithShape="1">
          <a:blip r:embed="rId3">
            <a:alphaModFix/>
          </a:blip>
          <a:srcRect b="0" l="0" r="0" t="72417"/>
          <a:stretch/>
        </p:blipFill>
        <p:spPr>
          <a:xfrm>
            <a:off x="8250245" y="1847818"/>
            <a:ext cx="3580793" cy="2207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5"/>
          <p:cNvPicPr preferRelativeResize="0"/>
          <p:nvPr/>
        </p:nvPicPr>
        <p:blipFill rotWithShape="1">
          <a:blip r:embed="rId3">
            <a:alphaModFix/>
          </a:blip>
          <a:srcRect b="95374" l="0" r="0" t="0"/>
          <a:stretch/>
        </p:blipFill>
        <p:spPr>
          <a:xfrm>
            <a:off x="4305437" y="1504883"/>
            <a:ext cx="3580793" cy="37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5"/>
          <p:cNvPicPr preferRelativeResize="0"/>
          <p:nvPr/>
        </p:nvPicPr>
        <p:blipFill rotWithShape="1">
          <a:blip r:embed="rId3">
            <a:alphaModFix/>
          </a:blip>
          <a:srcRect b="95374" l="0" r="0" t="0"/>
          <a:stretch/>
        </p:blipFill>
        <p:spPr>
          <a:xfrm>
            <a:off x="8250245" y="1477500"/>
            <a:ext cx="3580793" cy="3703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5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Implemented system evaluation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6"/>
          <p:cNvSpPr/>
          <p:nvPr/>
        </p:nvSpPr>
        <p:spPr>
          <a:xfrm>
            <a:off x="7680960" y="365760"/>
            <a:ext cx="42978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3A54"/>
              </a:buClr>
              <a:buSzPts val="30000"/>
              <a:buFont typeface="Trebuchet MS"/>
              <a:buNone/>
            </a:pPr>
            <a:r>
              <a:rPr b="1" i="0" lang="en-US" sz="30000" u="none" cap="none" strike="noStrike">
                <a:solidFill>
                  <a:srgbClr val="263A54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3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86"/>
          <p:cNvSpPr/>
          <p:nvPr/>
        </p:nvSpPr>
        <p:spPr>
          <a:xfrm>
            <a:off x="548640" y="1828800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3CDD7"/>
                </a:solidFill>
                <a:latin typeface="Trebuchet MS"/>
                <a:ea typeface="Trebuchet MS"/>
                <a:cs typeface="Trebuchet MS"/>
                <a:sym typeface="Trebuchet MS"/>
              </a:rPr>
              <a:t>SECTION  4 /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86"/>
          <p:cNvSpPr/>
          <p:nvPr/>
        </p:nvSpPr>
        <p:spPr>
          <a:xfrm>
            <a:off x="521208" y="2240280"/>
            <a:ext cx="7863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Trebuchet MS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Study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86"/>
          <p:cNvSpPr/>
          <p:nvPr/>
        </p:nvSpPr>
        <p:spPr>
          <a:xfrm>
            <a:off x="548640" y="3703320"/>
            <a:ext cx="6949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ounterbalanced within-subjects evaluation of </a:t>
            </a:r>
            <a:b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the new system against Adobe Acrobat (N = 21).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86"/>
          <p:cNvSpPr/>
          <p:nvPr/>
        </p:nvSpPr>
        <p:spPr>
          <a:xfrm>
            <a:off x="548640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86"/>
          <p:cNvSpPr/>
          <p:nvPr/>
        </p:nvSpPr>
        <p:spPr>
          <a:xfrm>
            <a:off x="548640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86"/>
          <p:cNvSpPr/>
          <p:nvPr/>
        </p:nvSpPr>
        <p:spPr>
          <a:xfrm>
            <a:off x="2789469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86"/>
          <p:cNvSpPr/>
          <p:nvPr/>
        </p:nvSpPr>
        <p:spPr>
          <a:xfrm>
            <a:off x="2789469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86"/>
          <p:cNvSpPr/>
          <p:nvPr/>
        </p:nvSpPr>
        <p:spPr>
          <a:xfrm>
            <a:off x="5030297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86"/>
          <p:cNvSpPr/>
          <p:nvPr/>
        </p:nvSpPr>
        <p:spPr>
          <a:xfrm>
            <a:off x="5030297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86"/>
          <p:cNvSpPr/>
          <p:nvPr/>
        </p:nvSpPr>
        <p:spPr>
          <a:xfrm>
            <a:off x="7271126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86"/>
          <p:cNvSpPr/>
          <p:nvPr/>
        </p:nvSpPr>
        <p:spPr>
          <a:xfrm>
            <a:off x="7271126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86"/>
          <p:cNvSpPr/>
          <p:nvPr/>
        </p:nvSpPr>
        <p:spPr>
          <a:xfrm>
            <a:off x="9511955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2E42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86"/>
          <p:cNvSpPr/>
          <p:nvPr/>
        </p:nvSpPr>
        <p:spPr>
          <a:xfrm>
            <a:off x="9511955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6" name="Google Shape;1066;p87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7" name="Google Shape;1067;p87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87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87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87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87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87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W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ithin-subjects user study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87"/>
          <p:cNvSpPr/>
          <p:nvPr/>
        </p:nvSpPr>
        <p:spPr>
          <a:xfrm>
            <a:off x="459278" y="1691668"/>
            <a:ext cx="2697600" cy="15546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87"/>
          <p:cNvSpPr/>
          <p:nvPr/>
        </p:nvSpPr>
        <p:spPr>
          <a:xfrm>
            <a:off x="687878" y="1920268"/>
            <a:ext cx="2240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21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N = 21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87"/>
          <p:cNvSpPr/>
          <p:nvPr/>
        </p:nvSpPr>
        <p:spPr>
          <a:xfrm>
            <a:off x="687878" y="2532916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participants, each </a:t>
            </a:r>
            <a:r>
              <a:rPr lang="en-US" sz="13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used </a:t>
            </a:r>
            <a:br>
              <a:rPr lang="en-US" sz="13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both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87"/>
          <p:cNvSpPr/>
          <p:nvPr/>
        </p:nvSpPr>
        <p:spPr>
          <a:xfrm>
            <a:off x="3403646" y="1691668"/>
            <a:ext cx="2697600" cy="1554600"/>
          </a:xfrm>
          <a:prstGeom prst="roundRect">
            <a:avLst>
              <a:gd fmla="val 5882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87"/>
          <p:cNvSpPr/>
          <p:nvPr/>
        </p:nvSpPr>
        <p:spPr>
          <a:xfrm>
            <a:off x="3632246" y="1920268"/>
            <a:ext cx="2240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1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Within-subjects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87"/>
          <p:cNvSpPr/>
          <p:nvPr/>
        </p:nvSpPr>
        <p:spPr>
          <a:xfrm>
            <a:off x="3632250" y="2532913"/>
            <a:ext cx="242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counterbalanced order (</a:t>
            </a:r>
            <a:r>
              <a:rPr lang="en-US" sz="13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Passwordless</a:t>
            </a:r>
            <a:r>
              <a:rPr b="0" i="0" lang="en-US" sz="13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↔ Adobe Acrobat)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87"/>
          <p:cNvSpPr/>
          <p:nvPr/>
        </p:nvSpPr>
        <p:spPr>
          <a:xfrm>
            <a:off x="6348014" y="1691668"/>
            <a:ext cx="2697600" cy="15546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87"/>
          <p:cNvSpPr/>
          <p:nvPr/>
        </p:nvSpPr>
        <p:spPr>
          <a:xfrm>
            <a:off x="6576613" y="1920268"/>
            <a:ext cx="2240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21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IRB-approved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87"/>
          <p:cNvSpPr/>
          <p:nvPr/>
        </p:nvSpPr>
        <p:spPr>
          <a:xfrm>
            <a:off x="6576613" y="2532916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Exempt as low-risk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87"/>
          <p:cNvSpPr/>
          <p:nvPr/>
        </p:nvSpPr>
        <p:spPr>
          <a:xfrm>
            <a:off x="9292382" y="1691668"/>
            <a:ext cx="2697600" cy="1554600"/>
          </a:xfrm>
          <a:prstGeom prst="roundRect">
            <a:avLst>
              <a:gd fmla="val 5882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87"/>
          <p:cNvSpPr/>
          <p:nvPr/>
        </p:nvSpPr>
        <p:spPr>
          <a:xfrm>
            <a:off x="9520982" y="1920268"/>
            <a:ext cx="2240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1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Mixed methods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87"/>
          <p:cNvSpPr/>
          <p:nvPr/>
        </p:nvSpPr>
        <p:spPr>
          <a:xfrm>
            <a:off x="9520982" y="2532916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validated scales + semi-structured interviews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5" name="Google Shape;1085;p87"/>
          <p:cNvGrpSpPr/>
          <p:nvPr/>
        </p:nvGrpSpPr>
        <p:grpSpPr>
          <a:xfrm>
            <a:off x="4447175" y="4275975"/>
            <a:ext cx="4364425" cy="1438275"/>
            <a:chOff x="4447188" y="4263100"/>
            <a:chExt cx="4364425" cy="1438275"/>
          </a:xfrm>
        </p:grpSpPr>
        <p:pic>
          <p:nvPicPr>
            <p:cNvPr id="1086" name="Google Shape;1086;p87"/>
            <p:cNvPicPr preferRelativeResize="0"/>
            <p:nvPr/>
          </p:nvPicPr>
          <p:blipFill rotWithShape="1">
            <a:blip r:embed="rId3">
              <a:alphaModFix/>
            </a:blip>
            <a:srcRect b="0" l="0" r="69866" t="0"/>
            <a:stretch/>
          </p:blipFill>
          <p:spPr>
            <a:xfrm>
              <a:off x="4447188" y="4263100"/>
              <a:ext cx="1280150" cy="1438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87"/>
            <p:cNvSpPr txBox="1"/>
            <p:nvPr/>
          </p:nvSpPr>
          <p:spPr>
            <a:xfrm>
              <a:off x="5811613" y="4666638"/>
              <a:ext cx="30000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620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vs.</a:t>
              </a:r>
              <a:endParaRPr/>
            </a:p>
          </p:txBody>
        </p:sp>
        <p:pic>
          <p:nvPicPr>
            <p:cNvPr id="1088" name="Google Shape;1088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41312" y="4424050"/>
              <a:ext cx="1198275" cy="1198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4" name="Google Shape;1094;p88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5" name="Google Shape;1095;p88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88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88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88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8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8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nstruments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88"/>
          <p:cNvSpPr/>
          <p:nvPr/>
        </p:nvSpPr>
        <p:spPr>
          <a:xfrm>
            <a:off x="3421203" y="1092635"/>
            <a:ext cx="5349300" cy="8688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02" name="Google Shape;1102;p88"/>
          <p:cNvSpPr/>
          <p:nvPr/>
        </p:nvSpPr>
        <p:spPr>
          <a:xfrm>
            <a:off x="3695523" y="1092635"/>
            <a:ext cx="100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SUS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88"/>
          <p:cNvSpPr/>
          <p:nvPr/>
        </p:nvSpPr>
        <p:spPr>
          <a:xfrm>
            <a:off x="4747083" y="1092635"/>
            <a:ext cx="3840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System Usability Scale</a:t>
            </a:r>
            <a:r>
              <a:rPr lang="en-US" sz="16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single 0–100 </a:t>
            </a: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usability </a:t>
            </a: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score, benchmark</a:t>
            </a:r>
            <a:r>
              <a:rPr lang="en-US" sz="16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88"/>
          <p:cNvSpPr/>
          <p:nvPr/>
        </p:nvSpPr>
        <p:spPr>
          <a:xfrm>
            <a:off x="3421203" y="2043611"/>
            <a:ext cx="5349300" cy="868800"/>
          </a:xfrm>
          <a:prstGeom prst="roundRect">
            <a:avLst>
              <a:gd fmla="val 8421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05" name="Google Shape;1105;p88"/>
          <p:cNvSpPr/>
          <p:nvPr/>
        </p:nvSpPr>
        <p:spPr>
          <a:xfrm>
            <a:off x="3695523" y="2043611"/>
            <a:ext cx="100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VdL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88"/>
          <p:cNvSpPr/>
          <p:nvPr/>
        </p:nvSpPr>
        <p:spPr>
          <a:xfrm>
            <a:off x="4747083" y="2043611"/>
            <a:ext cx="3840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Van der Laan</a:t>
            </a:r>
            <a:r>
              <a:rPr lang="en-US" sz="16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usefulness &amp; satisfaction acceptance subscales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88"/>
          <p:cNvSpPr/>
          <p:nvPr/>
        </p:nvSpPr>
        <p:spPr>
          <a:xfrm>
            <a:off x="3421203" y="2994587"/>
            <a:ext cx="5349300" cy="8688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08" name="Google Shape;1108;p88"/>
          <p:cNvSpPr/>
          <p:nvPr/>
        </p:nvSpPr>
        <p:spPr>
          <a:xfrm>
            <a:off x="3695523" y="2994587"/>
            <a:ext cx="100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ATI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88"/>
          <p:cNvSpPr/>
          <p:nvPr/>
        </p:nvSpPr>
        <p:spPr>
          <a:xfrm>
            <a:off x="4747083" y="2994587"/>
            <a:ext cx="3840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Affinity for Technology Interaction</a:t>
            </a:r>
            <a:r>
              <a:rPr lang="en-US" sz="16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: possible </a:t>
            </a: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covariate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88"/>
          <p:cNvSpPr/>
          <p:nvPr/>
        </p:nvSpPr>
        <p:spPr>
          <a:xfrm>
            <a:off x="3421203" y="3945563"/>
            <a:ext cx="5349300" cy="868800"/>
          </a:xfrm>
          <a:prstGeom prst="roundRect">
            <a:avLst>
              <a:gd fmla="val 8421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11" name="Google Shape;1111;p88"/>
          <p:cNvSpPr/>
          <p:nvPr/>
        </p:nvSpPr>
        <p:spPr>
          <a:xfrm>
            <a:off x="3695523" y="3945563"/>
            <a:ext cx="100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PC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88"/>
          <p:cNvSpPr/>
          <p:nvPr/>
        </p:nvSpPr>
        <p:spPr>
          <a:xfrm>
            <a:off x="4747083" y="3945563"/>
            <a:ext cx="3840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Privacy Concern scale</a:t>
            </a:r>
            <a:r>
              <a:rPr lang="en-US" sz="16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: possible </a:t>
            </a:r>
            <a:r>
              <a:rPr b="0" i="0" lang="en-US" sz="16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covariate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88"/>
          <p:cNvSpPr/>
          <p:nvPr/>
        </p:nvSpPr>
        <p:spPr>
          <a:xfrm>
            <a:off x="3421178" y="4896587"/>
            <a:ext cx="5349300" cy="8688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14" name="Google Shape;1114;p88"/>
          <p:cNvSpPr/>
          <p:nvPr/>
        </p:nvSpPr>
        <p:spPr>
          <a:xfrm>
            <a:off x="3695498" y="4896587"/>
            <a:ext cx="100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Q+A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88"/>
          <p:cNvSpPr/>
          <p:nvPr/>
        </p:nvSpPr>
        <p:spPr>
          <a:xfrm>
            <a:off x="4747058" y="4896587"/>
            <a:ext cx="3840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50"/>
              <a:buFont typeface="Calibri"/>
              <a:buNone/>
            </a:pPr>
            <a:r>
              <a:rPr lang="en-US" sz="16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10 interview questions, thematic analysis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1" name="Google Shape;1121;p89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2" name="Google Shape;1122;p89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89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89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89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89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89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W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ithin-subjects user study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8" name="Google Shape;112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437" y="1390250"/>
            <a:ext cx="11556801" cy="2538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9" name="Google Shape;1129;p89"/>
          <p:cNvGrpSpPr/>
          <p:nvPr/>
        </p:nvGrpSpPr>
        <p:grpSpPr>
          <a:xfrm>
            <a:off x="4447175" y="4275975"/>
            <a:ext cx="4364425" cy="1438275"/>
            <a:chOff x="4447188" y="4263100"/>
            <a:chExt cx="4364425" cy="1438275"/>
          </a:xfrm>
        </p:grpSpPr>
        <p:pic>
          <p:nvPicPr>
            <p:cNvPr id="1130" name="Google Shape;1130;p89"/>
            <p:cNvPicPr preferRelativeResize="0"/>
            <p:nvPr/>
          </p:nvPicPr>
          <p:blipFill rotWithShape="1">
            <a:blip r:embed="rId4">
              <a:alphaModFix/>
            </a:blip>
            <a:srcRect b="0" l="0" r="69866" t="0"/>
            <a:stretch/>
          </p:blipFill>
          <p:spPr>
            <a:xfrm>
              <a:off x="4447188" y="4263100"/>
              <a:ext cx="1280150" cy="1438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89"/>
            <p:cNvSpPr txBox="1"/>
            <p:nvPr/>
          </p:nvSpPr>
          <p:spPr>
            <a:xfrm>
              <a:off x="5811613" y="4666638"/>
              <a:ext cx="30000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620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vs.</a:t>
              </a:r>
              <a:endParaRPr/>
            </a:p>
          </p:txBody>
        </p:sp>
        <p:pic>
          <p:nvPicPr>
            <p:cNvPr id="1132" name="Google Shape;1132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41312" y="4424050"/>
              <a:ext cx="1198275" cy="1198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8" name="Google Shape;1138;p90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90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90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90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90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90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90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Participants (N = 21)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90"/>
          <p:cNvSpPr/>
          <p:nvPr/>
        </p:nvSpPr>
        <p:spPr>
          <a:xfrm>
            <a:off x="330478" y="1799950"/>
            <a:ext cx="26976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46" name="Google Shape;1146;p90"/>
          <p:cNvSpPr/>
          <p:nvPr/>
        </p:nvSpPr>
        <p:spPr>
          <a:xfrm>
            <a:off x="513358" y="2074270"/>
            <a:ext cx="233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29.2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90"/>
          <p:cNvSpPr/>
          <p:nvPr/>
        </p:nvSpPr>
        <p:spPr>
          <a:xfrm>
            <a:off x="513358" y="2942950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mean age (SD 11.7)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90"/>
          <p:cNvSpPr/>
          <p:nvPr/>
        </p:nvSpPr>
        <p:spPr>
          <a:xfrm>
            <a:off x="3274846" y="1799950"/>
            <a:ext cx="26976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49" name="Google Shape;1149;p90"/>
          <p:cNvSpPr/>
          <p:nvPr/>
        </p:nvSpPr>
        <p:spPr>
          <a:xfrm>
            <a:off x="3457725" y="2074270"/>
            <a:ext cx="233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71%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90"/>
          <p:cNvSpPr/>
          <p:nvPr/>
        </p:nvSpPr>
        <p:spPr>
          <a:xfrm>
            <a:off x="3457725" y="2942950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had a technical background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90"/>
          <p:cNvSpPr/>
          <p:nvPr/>
        </p:nvSpPr>
        <p:spPr>
          <a:xfrm>
            <a:off x="6219214" y="1799950"/>
            <a:ext cx="26976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52" name="Google Shape;1152;p90"/>
          <p:cNvSpPr/>
          <p:nvPr/>
        </p:nvSpPr>
        <p:spPr>
          <a:xfrm>
            <a:off x="6402094" y="2074270"/>
            <a:ext cx="233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76%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90"/>
          <p:cNvSpPr/>
          <p:nvPr/>
        </p:nvSpPr>
        <p:spPr>
          <a:xfrm>
            <a:off x="6402094" y="2942950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male  ·  24% female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90"/>
          <p:cNvSpPr/>
          <p:nvPr/>
        </p:nvSpPr>
        <p:spPr>
          <a:xfrm>
            <a:off x="9163582" y="1799950"/>
            <a:ext cx="26976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55" name="Google Shape;1155;p90"/>
          <p:cNvSpPr/>
          <p:nvPr/>
        </p:nvSpPr>
        <p:spPr>
          <a:xfrm>
            <a:off x="9346462" y="2074270"/>
            <a:ext cx="2331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67%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90"/>
          <p:cNvSpPr/>
          <p:nvPr/>
        </p:nvSpPr>
        <p:spPr>
          <a:xfrm>
            <a:off x="9346462" y="2942950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held a bachelor's degree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90"/>
          <p:cNvSpPr/>
          <p:nvPr/>
        </p:nvSpPr>
        <p:spPr>
          <a:xfrm>
            <a:off x="3545700" y="3899088"/>
            <a:ext cx="5100300" cy="2103300"/>
          </a:xfrm>
          <a:prstGeom prst="roundRect">
            <a:avLst>
              <a:gd fmla="val 6897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0"/>
          <p:cNvSpPr/>
          <p:nvPr/>
        </p:nvSpPr>
        <p:spPr>
          <a:xfrm>
            <a:off x="3905350" y="4070250"/>
            <a:ext cx="4492800" cy="17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550"/>
              <a:buFont typeface="Calibri"/>
              <a:buNone/>
            </a:pPr>
            <a:r>
              <a:rPr b="1" i="0" lang="en-US" sz="205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ATI </a:t>
            </a:r>
            <a:r>
              <a:rPr b="0" i="0" lang="en-US" sz="20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(technology affinity, 1–6):  M = 4.11        </a:t>
            </a:r>
            <a:br>
              <a:rPr b="0" i="0" lang="en-US" sz="20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5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Privacy Concern </a:t>
            </a:r>
            <a:r>
              <a:rPr b="0" i="0" lang="en-US" sz="20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(1–7):  M = 5.58       </a:t>
            </a:r>
            <a:br>
              <a:rPr b="0" i="0" lang="en-US" sz="20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20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50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205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cales </a:t>
            </a:r>
            <a:r>
              <a:rPr lang="en-US" sz="2050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nearly all</a:t>
            </a:r>
            <a:r>
              <a:rPr lang="en-US" sz="205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5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α ≥ .80</a:t>
            </a:r>
            <a:endParaRPr b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4" name="Google Shape;1164;p91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5" name="Google Shape;1165;p91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91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91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91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91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0" name="Google Shape;1170;p91"/>
          <p:cNvPicPr preferRelativeResize="0"/>
          <p:nvPr/>
        </p:nvPicPr>
        <p:blipFill rotWithShape="1">
          <a:blip r:embed="rId3">
            <a:alphaModFix/>
          </a:blip>
          <a:srcRect b="1086" l="0" r="0" t="7614"/>
          <a:stretch/>
        </p:blipFill>
        <p:spPr>
          <a:xfrm>
            <a:off x="3332925" y="170275"/>
            <a:ext cx="5525751" cy="59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6" name="Google Shape;1176;p92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7" name="Google Shape;1177;p92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92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92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92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92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92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Internal consistency (Cronbach’s alpha)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3" name="Google Shape;1183;p92"/>
          <p:cNvPicPr preferRelativeResize="0"/>
          <p:nvPr/>
        </p:nvPicPr>
        <p:blipFill rotWithShape="1">
          <a:blip r:embed="rId3">
            <a:alphaModFix/>
          </a:blip>
          <a:srcRect b="0" l="0" r="0" t="9272"/>
          <a:stretch/>
        </p:blipFill>
        <p:spPr>
          <a:xfrm>
            <a:off x="1622463" y="1258250"/>
            <a:ext cx="8946738" cy="47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3"/>
          <p:cNvSpPr/>
          <p:nvPr/>
        </p:nvSpPr>
        <p:spPr>
          <a:xfrm>
            <a:off x="7680960" y="365760"/>
            <a:ext cx="42978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3A54"/>
              </a:buClr>
              <a:buSzPts val="30000"/>
              <a:buFont typeface="Trebuchet MS"/>
              <a:buNone/>
            </a:pPr>
            <a:r>
              <a:rPr b="1" i="0" lang="en-US" sz="30000" u="none" cap="none" strike="noStrike">
                <a:solidFill>
                  <a:srgbClr val="263A54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3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93"/>
          <p:cNvSpPr/>
          <p:nvPr/>
        </p:nvSpPr>
        <p:spPr>
          <a:xfrm>
            <a:off x="548640" y="1828800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3CDD7"/>
                </a:solidFill>
                <a:latin typeface="Trebuchet MS"/>
                <a:ea typeface="Trebuchet MS"/>
                <a:cs typeface="Trebuchet MS"/>
                <a:sym typeface="Trebuchet MS"/>
              </a:rPr>
              <a:t>SECTION  5 /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93"/>
          <p:cNvSpPr/>
          <p:nvPr/>
        </p:nvSpPr>
        <p:spPr>
          <a:xfrm>
            <a:off x="521208" y="2240280"/>
            <a:ext cx="7863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Trebuchet MS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93"/>
          <p:cNvSpPr/>
          <p:nvPr/>
        </p:nvSpPr>
        <p:spPr>
          <a:xfrm>
            <a:off x="548640" y="3703320"/>
            <a:ext cx="6949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3CDD7"/>
                </a:solidFill>
                <a:latin typeface="Calibri"/>
                <a:ea typeface="Calibri"/>
                <a:cs typeface="Calibri"/>
                <a:sym typeface="Calibri"/>
              </a:rPr>
              <a:t>Usability, acceptance, and adoption findings — plus takeaways and future research.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93"/>
          <p:cNvSpPr/>
          <p:nvPr/>
        </p:nvSpPr>
        <p:spPr>
          <a:xfrm>
            <a:off x="548640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3"/>
          <p:cNvSpPr/>
          <p:nvPr/>
        </p:nvSpPr>
        <p:spPr>
          <a:xfrm>
            <a:off x="548640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93"/>
          <p:cNvSpPr/>
          <p:nvPr/>
        </p:nvSpPr>
        <p:spPr>
          <a:xfrm>
            <a:off x="2789469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3"/>
          <p:cNvSpPr/>
          <p:nvPr/>
        </p:nvSpPr>
        <p:spPr>
          <a:xfrm>
            <a:off x="2789469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93"/>
          <p:cNvSpPr/>
          <p:nvPr/>
        </p:nvSpPr>
        <p:spPr>
          <a:xfrm>
            <a:off x="5030297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93"/>
          <p:cNvSpPr/>
          <p:nvPr/>
        </p:nvSpPr>
        <p:spPr>
          <a:xfrm>
            <a:off x="5030297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93"/>
          <p:cNvSpPr/>
          <p:nvPr/>
        </p:nvSpPr>
        <p:spPr>
          <a:xfrm>
            <a:off x="7271126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93"/>
          <p:cNvSpPr/>
          <p:nvPr/>
        </p:nvSpPr>
        <p:spPr>
          <a:xfrm>
            <a:off x="7271126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6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8A97A6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93"/>
          <p:cNvSpPr/>
          <p:nvPr/>
        </p:nvSpPr>
        <p:spPr>
          <a:xfrm>
            <a:off x="9511955" y="5943600"/>
            <a:ext cx="2131200" cy="82200"/>
          </a:xfrm>
          <a:prstGeom prst="roundRect">
            <a:avLst>
              <a:gd fmla="val 4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93"/>
          <p:cNvSpPr/>
          <p:nvPr/>
        </p:nvSpPr>
        <p:spPr>
          <a:xfrm>
            <a:off x="9511955" y="6089904"/>
            <a:ext cx="21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8" name="Google Shape;1208;p94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9" name="Google Shape;1209;p94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94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94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94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94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94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 1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usability parity on first use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94"/>
          <p:cNvSpPr/>
          <p:nvPr/>
        </p:nvSpPr>
        <p:spPr>
          <a:xfrm>
            <a:off x="9302292" y="1897275"/>
            <a:ext cx="2610600" cy="3436800"/>
          </a:xfrm>
          <a:prstGeom prst="roundRect">
            <a:avLst>
              <a:gd fmla="val 2817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4"/>
          <p:cNvSpPr/>
          <p:nvPr/>
        </p:nvSpPr>
        <p:spPr>
          <a:xfrm>
            <a:off x="9470710" y="2090908"/>
            <a:ext cx="230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SUS scores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94"/>
          <p:cNvSpPr/>
          <p:nvPr/>
        </p:nvSpPr>
        <p:spPr>
          <a:xfrm>
            <a:off x="9470710" y="2574990"/>
            <a:ext cx="23016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73.3</a:t>
            </a:r>
            <a:r>
              <a:rPr b="0" i="0" lang="en-US" sz="1400" u="none" cap="none" strike="noStrike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rPr>
              <a:t>  password-based</a:t>
            </a:r>
            <a:endParaRPr b="0" i="0" sz="1400" u="none" cap="none" strike="noStrike">
              <a:solidFill>
                <a:srgbClr val="2E3A4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72.0</a:t>
            </a:r>
            <a:r>
              <a:rPr lang="en-US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rPr>
              <a:t>  passwordless</a:t>
            </a:r>
            <a:endParaRPr>
              <a:solidFill>
                <a:srgbClr val="2E3A4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8" name="Google Shape;1218;p94"/>
          <p:cNvSpPr/>
          <p:nvPr/>
        </p:nvSpPr>
        <p:spPr>
          <a:xfrm>
            <a:off x="9470710" y="3639970"/>
            <a:ext cx="23016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364F"/>
                </a:solidFill>
                <a:latin typeface="Calibri"/>
                <a:ea typeface="Calibri"/>
                <a:cs typeface="Calibri"/>
                <a:sym typeface="Calibri"/>
              </a:rPr>
              <a:t>No significant difference  </a:t>
            </a:r>
            <a:r>
              <a:rPr b="0" i="0" lang="en-US" sz="14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(Wilcoxon W = 113.5, p = .944).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94"/>
          <p:cNvSpPr/>
          <p:nvPr/>
        </p:nvSpPr>
        <p:spPr>
          <a:xfrm>
            <a:off x="9470710" y="4414502"/>
            <a:ext cx="23016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A brand-new passwordless prototype matched a mature commercial tool on first use.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0" name="Google Shape;1220;p94"/>
          <p:cNvPicPr preferRelativeResize="0"/>
          <p:nvPr/>
        </p:nvPicPr>
        <p:blipFill rotWithShape="1">
          <a:blip r:embed="rId3">
            <a:alphaModFix/>
          </a:blip>
          <a:srcRect b="0" l="0" r="0" t="1283"/>
          <a:stretch/>
        </p:blipFill>
        <p:spPr>
          <a:xfrm>
            <a:off x="83553" y="1241925"/>
            <a:ext cx="9083051" cy="474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6" name="Google Shape;1226;p95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95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95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95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95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95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95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SUS benchmarking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3" name="Google Shape;1233;p95"/>
          <p:cNvGrpSpPr/>
          <p:nvPr/>
        </p:nvGrpSpPr>
        <p:grpSpPr>
          <a:xfrm>
            <a:off x="8668125" y="691461"/>
            <a:ext cx="2610600" cy="1678276"/>
            <a:chOff x="9432275" y="339950"/>
            <a:chExt cx="2610600" cy="1778400"/>
          </a:xfrm>
        </p:grpSpPr>
        <p:sp>
          <p:nvSpPr>
            <p:cNvPr id="1234" name="Google Shape;1234;p95"/>
            <p:cNvSpPr/>
            <p:nvPr/>
          </p:nvSpPr>
          <p:spPr>
            <a:xfrm>
              <a:off x="9432275" y="339950"/>
              <a:ext cx="2610600" cy="1778400"/>
            </a:xfrm>
            <a:prstGeom prst="roundRect">
              <a:avLst>
                <a:gd fmla="val 2817" name="adj"/>
              </a:avLst>
            </a:prstGeom>
            <a:solidFill>
              <a:srgbClr val="F3F5F8"/>
            </a:solidFill>
            <a:ln>
              <a:noFill/>
            </a:ln>
            <a:effectLst>
              <a:outerShdw blurRad="114300" rotWithShape="0" algn="bl" dir="5400000" dist="38100">
                <a:srgbClr val="22384A">
                  <a:alpha val="1607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95"/>
            <p:cNvSpPr/>
            <p:nvPr/>
          </p:nvSpPr>
          <p:spPr>
            <a:xfrm>
              <a:off x="9586785" y="446533"/>
              <a:ext cx="2301600" cy="38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2364F"/>
                </a:buClr>
                <a:buSzPts val="1600"/>
                <a:buFont typeface="Trebuchet MS"/>
                <a:buNone/>
              </a:pPr>
              <a:r>
                <a:rPr b="1" i="0" lang="en-US" sz="1600" u="none" cap="none" strike="noStrike">
                  <a:solidFill>
                    <a:srgbClr val="2236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SUS scores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95"/>
            <p:cNvSpPr/>
            <p:nvPr/>
          </p:nvSpPr>
          <p:spPr>
            <a:xfrm>
              <a:off x="9586785" y="930615"/>
              <a:ext cx="2301600" cy="8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258"/>
                </a:buClr>
                <a:buSzPts val="2400"/>
                <a:buFont typeface="Trebuchet MS"/>
                <a:buNone/>
              </a:pPr>
              <a:r>
                <a:rPr b="1" i="0" lang="en-US" sz="2400" u="none" cap="none" strike="noStrike">
                  <a:solidFill>
                    <a:srgbClr val="22364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73.3</a:t>
              </a:r>
              <a:r>
                <a:rPr b="0" i="0" lang="en-US" sz="1400" u="none" cap="none" strike="noStrike">
                  <a:solidFill>
                    <a:srgbClr val="2E3A45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password-based</a:t>
              </a:r>
              <a:endParaRPr b="0" i="0" sz="1400" u="none" cap="none" strike="noStrike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4258"/>
                </a:buClr>
                <a:buSzPts val="2400"/>
                <a:buFont typeface="Trebuchet MS"/>
                <a:buNone/>
              </a:pPr>
              <a:r>
                <a:rPr b="1" lang="en-US" sz="2400">
                  <a:solidFill>
                    <a:srgbClr val="2C425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72.0</a:t>
              </a:r>
              <a:r>
                <a:rPr lang="en-US">
                  <a:solidFill>
                    <a:srgbClr val="2E3A45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passwordless</a:t>
              </a:r>
              <a:endParaRPr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1237" name="Google Shape;123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69862"/>
            <a:ext cx="11886872" cy="3281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3" name="Google Shape;1243;p96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4" name="Google Shape;1244;p96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96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96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96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96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96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 2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 passwordless rated significantly more useful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0" name="Google Shape;1250;p96"/>
          <p:cNvPicPr preferRelativeResize="0"/>
          <p:nvPr/>
        </p:nvPicPr>
        <p:blipFill rotWithShape="1">
          <a:blip r:embed="rId3">
            <a:alphaModFix/>
          </a:blip>
          <a:srcRect b="0" l="517" r="0" t="1029"/>
          <a:stretch/>
        </p:blipFill>
        <p:spPr>
          <a:xfrm>
            <a:off x="107300" y="1401400"/>
            <a:ext cx="11977074" cy="42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96"/>
          <p:cNvSpPr/>
          <p:nvPr/>
        </p:nvSpPr>
        <p:spPr>
          <a:xfrm>
            <a:off x="2593831" y="5222875"/>
            <a:ext cx="20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E5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24F"/>
                </a:solidFill>
                <a:latin typeface="Calibri"/>
                <a:ea typeface="Calibri"/>
                <a:cs typeface="Calibri"/>
                <a:sym typeface="Calibri"/>
              </a:rPr>
              <a:t>+0.73 vs</a:t>
            </a:r>
            <a:r>
              <a:rPr lang="en-US" sz="1500">
                <a:solidFill>
                  <a:srgbClr val="33424F"/>
                </a:solidFill>
                <a:latin typeface="Calibri"/>
                <a:ea typeface="Calibri"/>
                <a:cs typeface="Calibri"/>
                <a:sym typeface="Calibri"/>
              </a:rPr>
              <a:t> +1.19</a:t>
            </a:r>
            <a:r>
              <a:rPr b="0" i="0" lang="en-US" sz="1500" u="none" cap="none" strike="noStrike">
                <a:solidFill>
                  <a:srgbClr val="33424F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1" i="0" lang="en-US" sz="1500" u="none" cap="none" strike="noStrike">
                <a:solidFill>
                  <a:srgbClr val="0B6F6A"/>
                </a:solidFill>
                <a:latin typeface="Calibri"/>
                <a:ea typeface="Calibri"/>
                <a:cs typeface="Calibri"/>
                <a:sym typeface="Calibri"/>
              </a:rPr>
              <a:t>p = .014 *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96"/>
          <p:cNvSpPr/>
          <p:nvPr/>
        </p:nvSpPr>
        <p:spPr>
          <a:xfrm>
            <a:off x="8497999" y="5222875"/>
            <a:ext cx="198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E5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24F"/>
                </a:solidFill>
                <a:latin typeface="Calibri"/>
                <a:ea typeface="Calibri"/>
                <a:cs typeface="Calibri"/>
                <a:sym typeface="Calibri"/>
              </a:rPr>
              <a:t>+0.52 vs +0</a:t>
            </a:r>
            <a:r>
              <a:rPr lang="en-US" sz="1500">
                <a:solidFill>
                  <a:srgbClr val="33424F"/>
                </a:solidFill>
                <a:latin typeface="Calibri"/>
                <a:ea typeface="Calibri"/>
                <a:cs typeface="Calibri"/>
                <a:sym typeface="Calibri"/>
              </a:rPr>
              <a:t>.93</a:t>
            </a:r>
            <a:r>
              <a:rPr b="0" i="0" lang="en-US" sz="1500" u="none" cap="none" strike="noStrike">
                <a:solidFill>
                  <a:srgbClr val="33424F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1" lang="en-US" sz="1500" u="none" cap="none" strike="noStrike">
                <a:solidFill>
                  <a:srgbClr val="7C8B98"/>
                </a:solidFill>
                <a:latin typeface="Calibri"/>
                <a:ea typeface="Calibri"/>
                <a:cs typeface="Calibri"/>
                <a:sym typeface="Calibri"/>
              </a:rPr>
              <a:t>p = .078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8" name="Google Shape;1258;p97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9" name="Google Shape;1259;p97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97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97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97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97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97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 3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: tech a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ffinity predicts perceived usability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97"/>
          <p:cNvSpPr/>
          <p:nvPr/>
        </p:nvSpPr>
        <p:spPr>
          <a:xfrm>
            <a:off x="9760532" y="1499225"/>
            <a:ext cx="2304600" cy="4111200"/>
          </a:xfrm>
          <a:prstGeom prst="roundRect">
            <a:avLst>
              <a:gd fmla="val 2857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97"/>
          <p:cNvSpPr/>
          <p:nvPr/>
        </p:nvSpPr>
        <p:spPr>
          <a:xfrm>
            <a:off x="9915892" y="1802752"/>
            <a:ext cx="20196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ρ = +.578</a:t>
            </a:r>
            <a:r>
              <a:rPr b="0" i="0" lang="en-US" sz="1500" u="none" cap="none" strike="noStrike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br>
              <a:rPr b="0" i="0" lang="en-US" sz="1500" u="none" cap="none" strike="noStrike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500" u="none" cap="none" strike="noStrike">
                <a:solidFill>
                  <a:srgbClr val="2E3A45"/>
                </a:solidFill>
                <a:latin typeface="Trebuchet MS"/>
                <a:ea typeface="Trebuchet MS"/>
                <a:cs typeface="Trebuchet MS"/>
                <a:sym typeface="Trebuchet MS"/>
              </a:rPr>
              <a:t>(p = .006)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97"/>
          <p:cNvSpPr/>
          <p:nvPr/>
        </p:nvSpPr>
        <p:spPr>
          <a:xfrm>
            <a:off x="9915892" y="2652629"/>
            <a:ext cx="19938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Technology affinity (ATI) strongly predicts how usable people find the new passwordless system</a:t>
            </a:r>
            <a:r>
              <a:rPr lang="en-US" sz="14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but does NOT predict ratings of the familiar password-based system.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97"/>
          <p:cNvSpPr/>
          <p:nvPr/>
        </p:nvSpPr>
        <p:spPr>
          <a:xfrm>
            <a:off x="9915881" y="4716625"/>
            <a:ext cx="21492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Echoes Kupris &amp; Schreck</a:t>
            </a:r>
            <a:r>
              <a:rPr i="1" lang="en-US" sz="125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’s </a:t>
            </a:r>
            <a:br>
              <a:rPr i="1" lang="en-US" sz="125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(IEEE S&amp;P 2026) ATI</a:t>
            </a:r>
            <a:r>
              <a:rPr i="1" lang="en-US" sz="125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 to</a:t>
            </a:r>
            <a:br>
              <a:rPr i="1" lang="en-US" sz="1250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usability finding.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9" name="Google Shape;1269;p97"/>
          <p:cNvPicPr preferRelativeResize="0"/>
          <p:nvPr/>
        </p:nvPicPr>
        <p:blipFill rotWithShape="1">
          <a:blip r:embed="rId3">
            <a:alphaModFix/>
          </a:blip>
          <a:srcRect b="0" l="488" r="0" t="1000"/>
          <a:stretch/>
        </p:blipFill>
        <p:spPr>
          <a:xfrm>
            <a:off x="145791" y="1433887"/>
            <a:ext cx="9466763" cy="424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5" name="Google Shape;1275;p98"/>
          <p:cNvCxnSpPr/>
          <p:nvPr/>
        </p:nvCxnSpPr>
        <p:spPr>
          <a:xfrm>
            <a:off x="548640" y="6364224"/>
            <a:ext cx="11094300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6" name="Google Shape;1276;p98"/>
          <p:cNvSpPr/>
          <p:nvPr/>
        </p:nvSpPr>
        <p:spPr>
          <a:xfrm>
            <a:off x="54864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98"/>
          <p:cNvSpPr/>
          <p:nvPr/>
        </p:nvSpPr>
        <p:spPr>
          <a:xfrm>
            <a:off x="228600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98"/>
          <p:cNvSpPr/>
          <p:nvPr/>
        </p:nvSpPr>
        <p:spPr>
          <a:xfrm>
            <a:off x="402336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98"/>
          <p:cNvSpPr/>
          <p:nvPr/>
        </p:nvSpPr>
        <p:spPr>
          <a:xfrm>
            <a:off x="576072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98"/>
          <p:cNvSpPr/>
          <p:nvPr/>
        </p:nvSpPr>
        <p:spPr>
          <a:xfrm>
            <a:off x="7498080" y="64190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98"/>
          <p:cNvSpPr/>
          <p:nvPr/>
        </p:nvSpPr>
        <p:spPr>
          <a:xfrm>
            <a:off x="548640" y="5486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 3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: tech a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ffinity predicts perceived usability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2" name="Google Shape;128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763" y="1203275"/>
            <a:ext cx="6172076" cy="49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8" name="Google Shape;1288;p99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9" name="Google Shape;1289;p99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99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99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99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99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99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 4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clear preference to adopt p</a:t>
            </a:r>
            <a:r>
              <a:rPr b="1" lang="en-US" sz="290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asswordless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99"/>
          <p:cNvSpPr/>
          <p:nvPr/>
        </p:nvSpPr>
        <p:spPr>
          <a:xfrm>
            <a:off x="548640" y="1600205"/>
            <a:ext cx="5394900" cy="2469000"/>
          </a:xfrm>
          <a:prstGeom prst="roundRect">
            <a:avLst>
              <a:gd fmla="val 3704" name="adj"/>
            </a:avLst>
          </a:prstGeom>
          <a:solidFill>
            <a:srgbClr val="E8EDF2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6" name="Google Shape;1296;p99"/>
          <p:cNvSpPr/>
          <p:nvPr/>
        </p:nvSpPr>
        <p:spPr>
          <a:xfrm>
            <a:off x="914400" y="1920245"/>
            <a:ext cx="4663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79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4E6079"/>
                </a:solidFill>
                <a:latin typeface="Trebuchet MS"/>
                <a:ea typeface="Trebuchet MS"/>
                <a:cs typeface="Trebuchet MS"/>
                <a:sym typeface="Trebuchet MS"/>
              </a:rPr>
              <a:t>21 / 21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99"/>
          <p:cNvSpPr/>
          <p:nvPr/>
        </p:nvSpPr>
        <p:spPr>
          <a:xfrm>
            <a:off x="932688" y="2971805"/>
            <a:ext cx="4663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550"/>
              <a:buFont typeface="Calibri"/>
              <a:buNone/>
            </a:pPr>
            <a:r>
              <a:rPr b="0" i="0" lang="en-US" sz="1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willing to use the passwordless method </a:t>
            </a:r>
            <a:br>
              <a:rPr b="0" i="0" lang="en-US" sz="1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for their own documents today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99"/>
          <p:cNvSpPr/>
          <p:nvPr/>
        </p:nvSpPr>
        <p:spPr>
          <a:xfrm>
            <a:off x="6355080" y="1600205"/>
            <a:ext cx="5394900" cy="246900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9" name="Google Shape;1299;p99"/>
          <p:cNvSpPr/>
          <p:nvPr/>
        </p:nvSpPr>
        <p:spPr>
          <a:xfrm>
            <a:off x="6720840" y="1920245"/>
            <a:ext cx="4663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19 / 21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99"/>
          <p:cNvSpPr/>
          <p:nvPr/>
        </p:nvSpPr>
        <p:spPr>
          <a:xfrm>
            <a:off x="6739128" y="2971805"/>
            <a:ext cx="4663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550"/>
              <a:buFont typeface="Calibri"/>
              <a:buNone/>
            </a:pPr>
            <a:r>
              <a:rPr b="0" i="0" lang="en-US" sz="1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preferred passwordless for sending </a:t>
            </a:r>
            <a:br>
              <a:rPr b="0" i="0" lang="en-US" sz="1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many documents at scale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99"/>
          <p:cNvSpPr/>
          <p:nvPr/>
        </p:nvSpPr>
        <p:spPr>
          <a:xfrm>
            <a:off x="6739128" y="3606155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893A0"/>
                </a:solidFill>
                <a:latin typeface="Calibri"/>
                <a:ea typeface="Calibri"/>
                <a:cs typeface="Calibri"/>
                <a:sym typeface="Calibri"/>
              </a:rPr>
              <a:t>(1 chose password, 1 torn)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99"/>
          <p:cNvSpPr/>
          <p:nvPr/>
        </p:nvSpPr>
        <p:spPr>
          <a:xfrm>
            <a:off x="548678" y="4400660"/>
            <a:ext cx="11094300" cy="960000"/>
          </a:xfrm>
          <a:prstGeom prst="roundRect">
            <a:avLst>
              <a:gd fmla="val 7619" name="adj"/>
            </a:avLst>
          </a:prstGeom>
          <a:solidFill>
            <a:srgbClr val="16202E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99"/>
          <p:cNvSpPr/>
          <p:nvPr/>
        </p:nvSpPr>
        <p:spPr>
          <a:xfrm>
            <a:off x="960157" y="4400660"/>
            <a:ext cx="10271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CF0"/>
              </a:buClr>
              <a:buSzPts val="1500"/>
              <a:buFont typeface="Calibri"/>
              <a:buNone/>
            </a:pPr>
            <a:r>
              <a:rPr b="0" i="1" lang="en-US" sz="1800" u="none" cap="none" strike="noStrike">
                <a:solidFill>
                  <a:srgbClr val="E6ECF0"/>
                </a:solidFill>
                <a:latin typeface="Calibri"/>
                <a:ea typeface="Calibri"/>
                <a:cs typeface="Calibri"/>
                <a:sym typeface="Calibri"/>
              </a:rPr>
              <a:t>“You do it once and you get it. I can see long-term the passkeys are better</a:t>
            </a:r>
            <a:r>
              <a:rPr i="1" lang="en-US" sz="1800">
                <a:solidFill>
                  <a:srgbClr val="E6ECF0"/>
                </a:solidFill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b="0" i="1" lang="en-US" sz="1800" u="none" cap="none" strike="noStrike">
                <a:solidFill>
                  <a:srgbClr val="E6ECF0"/>
                </a:solidFill>
                <a:latin typeface="Calibri"/>
                <a:ea typeface="Calibri"/>
                <a:cs typeface="Calibri"/>
                <a:sym typeface="Calibri"/>
              </a:rPr>
              <a:t> it’s more organized.”   — P24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9" name="Google Shape;1309;p100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0" name="Google Shape;1310;p100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100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100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100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100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100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Qualitative findings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00"/>
          <p:cNvSpPr/>
          <p:nvPr/>
        </p:nvSpPr>
        <p:spPr>
          <a:xfrm>
            <a:off x="426550" y="1508825"/>
            <a:ext cx="5486400" cy="12213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17" name="Google Shape;1317;p100"/>
          <p:cNvSpPr/>
          <p:nvPr/>
        </p:nvSpPr>
        <p:spPr>
          <a:xfrm>
            <a:off x="700873" y="1746579"/>
            <a:ext cx="365700" cy="3657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18" name="Google Shape;1318;p100"/>
          <p:cNvSpPr/>
          <p:nvPr/>
        </p:nvSpPr>
        <p:spPr>
          <a:xfrm>
            <a:off x="700873" y="174657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100"/>
          <p:cNvSpPr/>
          <p:nvPr/>
        </p:nvSpPr>
        <p:spPr>
          <a:xfrm>
            <a:off x="1203793" y="1673427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Password sharing is the pain point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100"/>
          <p:cNvSpPr/>
          <p:nvPr/>
        </p:nvSpPr>
        <p:spPr>
          <a:xfrm>
            <a:off x="1203793" y="2075763"/>
            <a:ext cx="4480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Most named securely sharing the password as the hardest part of the password-based method.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100"/>
          <p:cNvSpPr/>
          <p:nvPr/>
        </p:nvSpPr>
        <p:spPr>
          <a:xfrm>
            <a:off x="426550" y="2902060"/>
            <a:ext cx="5486400" cy="1221300"/>
          </a:xfrm>
          <a:prstGeom prst="roundRect">
            <a:avLst>
              <a:gd fmla="val 6250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2" name="Google Shape;1322;p100"/>
          <p:cNvSpPr/>
          <p:nvPr/>
        </p:nvSpPr>
        <p:spPr>
          <a:xfrm>
            <a:off x="700873" y="3081603"/>
            <a:ext cx="365700" cy="3657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3" name="Google Shape;1323;p100"/>
          <p:cNvSpPr/>
          <p:nvPr/>
        </p:nvSpPr>
        <p:spPr>
          <a:xfrm>
            <a:off x="700873" y="3081603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100"/>
          <p:cNvSpPr/>
          <p:nvPr/>
        </p:nvSpPr>
        <p:spPr>
          <a:xfrm>
            <a:off x="1203793" y="3008451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Trust in biometrics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100"/>
          <p:cNvSpPr/>
          <p:nvPr/>
        </p:nvSpPr>
        <p:spPr>
          <a:xfrm>
            <a:off x="1203793" y="3410787"/>
            <a:ext cx="4480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Fingerprint / passkey verification gave a strong </a:t>
            </a:r>
            <a:r>
              <a:rPr lang="en-US" sz="14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feeling </a:t>
            </a: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of security.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100"/>
          <p:cNvSpPr/>
          <p:nvPr/>
        </p:nvSpPr>
        <p:spPr>
          <a:xfrm>
            <a:off x="426550" y="4295296"/>
            <a:ext cx="5486400" cy="12213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7" name="Google Shape;1327;p100"/>
          <p:cNvSpPr/>
          <p:nvPr/>
        </p:nvSpPr>
        <p:spPr>
          <a:xfrm>
            <a:off x="700873" y="4416627"/>
            <a:ext cx="365700" cy="3657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8" name="Google Shape;1328;p100"/>
          <p:cNvSpPr/>
          <p:nvPr/>
        </p:nvSpPr>
        <p:spPr>
          <a:xfrm>
            <a:off x="700873" y="4416627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100"/>
          <p:cNvSpPr/>
          <p:nvPr/>
        </p:nvSpPr>
        <p:spPr>
          <a:xfrm>
            <a:off x="1203793" y="4343475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Familiar to start, better at scale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100"/>
          <p:cNvSpPr/>
          <p:nvPr/>
        </p:nvSpPr>
        <p:spPr>
          <a:xfrm>
            <a:off x="1203793" y="4745811"/>
            <a:ext cx="4480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Passwords felt simpler at first; passwordless won for repeated, real-world sharing.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100"/>
          <p:cNvSpPr/>
          <p:nvPr/>
        </p:nvSpPr>
        <p:spPr>
          <a:xfrm>
            <a:off x="6278718" y="1508825"/>
            <a:ext cx="5486400" cy="1221300"/>
          </a:xfrm>
          <a:prstGeom prst="roundRect">
            <a:avLst>
              <a:gd fmla="val 6250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32" name="Google Shape;1332;p100"/>
          <p:cNvSpPr/>
          <p:nvPr/>
        </p:nvSpPr>
        <p:spPr>
          <a:xfrm>
            <a:off x="6553033" y="1746579"/>
            <a:ext cx="365700" cy="3657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33" name="Google Shape;1333;p100"/>
          <p:cNvSpPr/>
          <p:nvPr/>
        </p:nvSpPr>
        <p:spPr>
          <a:xfrm>
            <a:off x="6553033" y="174657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100"/>
          <p:cNvSpPr/>
          <p:nvPr/>
        </p:nvSpPr>
        <p:spPr>
          <a:xfrm>
            <a:off x="7055952" y="1673427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Usability friction on first use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100"/>
          <p:cNvSpPr/>
          <p:nvPr/>
        </p:nvSpPr>
        <p:spPr>
          <a:xfrm>
            <a:off x="7055952" y="2075763"/>
            <a:ext cx="4480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The unfamiliar passkey workflow added time for some</a:t>
            </a:r>
            <a:r>
              <a:rPr lang="en-US" sz="145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 Various friction points with passkeys remain.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100"/>
          <p:cNvSpPr/>
          <p:nvPr/>
        </p:nvSpPr>
        <p:spPr>
          <a:xfrm>
            <a:off x="6278718" y="2902060"/>
            <a:ext cx="5486400" cy="12213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37" name="Google Shape;1337;p100"/>
          <p:cNvSpPr/>
          <p:nvPr/>
        </p:nvSpPr>
        <p:spPr>
          <a:xfrm>
            <a:off x="6553033" y="3081603"/>
            <a:ext cx="365700" cy="3657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38" name="Google Shape;1338;p100"/>
          <p:cNvSpPr/>
          <p:nvPr/>
        </p:nvSpPr>
        <p:spPr>
          <a:xfrm>
            <a:off x="6553033" y="3081603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100"/>
          <p:cNvSpPr/>
          <p:nvPr/>
        </p:nvSpPr>
        <p:spPr>
          <a:xfrm>
            <a:off x="7055952" y="3008451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5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Adoption concerns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100"/>
          <p:cNvSpPr/>
          <p:nvPr/>
        </p:nvSpPr>
        <p:spPr>
          <a:xfrm>
            <a:off x="7055952" y="3410787"/>
            <a:ext cx="4480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Recipients needing the tool, and limited understanding, were the main hesitations.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6" name="Google Shape;1346;p101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7" name="Google Shape;1347;p101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101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101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101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101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101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Contributions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101"/>
          <p:cNvSpPr/>
          <p:nvPr/>
        </p:nvSpPr>
        <p:spPr>
          <a:xfrm>
            <a:off x="495125" y="1623075"/>
            <a:ext cx="5394900" cy="1740600"/>
          </a:xfrm>
          <a:prstGeom prst="roundRect">
            <a:avLst>
              <a:gd fmla="val 486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54" name="Google Shape;1354;p101"/>
          <p:cNvSpPr/>
          <p:nvPr/>
        </p:nvSpPr>
        <p:spPr>
          <a:xfrm>
            <a:off x="815167" y="1943108"/>
            <a:ext cx="548700" cy="5487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55" name="Google Shape;1355;p101"/>
          <p:cNvSpPr/>
          <p:nvPr/>
        </p:nvSpPr>
        <p:spPr>
          <a:xfrm>
            <a:off x="815167" y="194310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101"/>
          <p:cNvSpPr/>
          <p:nvPr/>
        </p:nvSpPr>
        <p:spPr>
          <a:xfrm>
            <a:off x="1546688" y="191567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50"/>
              <a:buFont typeface="Trebuchet MS"/>
              <a:buNone/>
            </a:pPr>
            <a:r>
              <a:rPr b="1" lang="en-US" sz="195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b="1" i="0" lang="en-US" sz="195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ramework for comparison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101"/>
          <p:cNvSpPr/>
          <p:nvPr/>
        </p:nvSpPr>
        <p:spPr>
          <a:xfrm>
            <a:off x="1546688" y="2372876"/>
            <a:ext cx="4069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15 benefits across usability, deployability, and security for evaluating any document encryption method.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101"/>
          <p:cNvSpPr/>
          <p:nvPr/>
        </p:nvSpPr>
        <p:spPr>
          <a:xfrm>
            <a:off x="6301574" y="1623075"/>
            <a:ext cx="5394900" cy="1740600"/>
          </a:xfrm>
          <a:prstGeom prst="roundRect">
            <a:avLst>
              <a:gd fmla="val 486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59" name="Google Shape;1359;p101"/>
          <p:cNvSpPr/>
          <p:nvPr/>
        </p:nvSpPr>
        <p:spPr>
          <a:xfrm>
            <a:off x="6621608" y="1943108"/>
            <a:ext cx="548700" cy="5487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60" name="Google Shape;1360;p101"/>
          <p:cNvSpPr/>
          <p:nvPr/>
        </p:nvSpPr>
        <p:spPr>
          <a:xfrm>
            <a:off x="6621608" y="194310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101"/>
          <p:cNvSpPr/>
          <p:nvPr/>
        </p:nvSpPr>
        <p:spPr>
          <a:xfrm>
            <a:off x="7353127" y="191567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50"/>
              <a:buFont typeface="Trebuchet MS"/>
              <a:buNone/>
            </a:pPr>
            <a:r>
              <a:rPr b="1" i="0" lang="en-US" sz="195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grounding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101"/>
          <p:cNvSpPr/>
          <p:nvPr/>
        </p:nvSpPr>
        <p:spPr>
          <a:xfrm>
            <a:off x="7353127" y="2372876"/>
            <a:ext cx="4069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Analysis of the MFT breach pattern that 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impacted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. The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work addresses a </a:t>
            </a:r>
            <a:b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pressing problem.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101"/>
          <p:cNvSpPr/>
          <p:nvPr/>
        </p:nvSpPr>
        <p:spPr>
          <a:xfrm>
            <a:off x="495125" y="3598521"/>
            <a:ext cx="5394900" cy="1740600"/>
          </a:xfrm>
          <a:prstGeom prst="roundRect">
            <a:avLst>
              <a:gd fmla="val 486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64" name="Google Shape;1364;p101"/>
          <p:cNvSpPr/>
          <p:nvPr/>
        </p:nvSpPr>
        <p:spPr>
          <a:xfrm>
            <a:off x="815167" y="3863348"/>
            <a:ext cx="548700" cy="548700"/>
          </a:xfrm>
          <a:prstGeom prst="ellipse">
            <a:avLst/>
          </a:prstGeom>
          <a:solidFill>
            <a:srgbClr val="223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65" name="Google Shape;1365;p101"/>
          <p:cNvSpPr/>
          <p:nvPr/>
        </p:nvSpPr>
        <p:spPr>
          <a:xfrm>
            <a:off x="815167" y="386334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101"/>
          <p:cNvSpPr/>
          <p:nvPr/>
        </p:nvSpPr>
        <p:spPr>
          <a:xfrm>
            <a:off x="1546688" y="383591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50"/>
              <a:buFont typeface="Trebuchet MS"/>
              <a:buNone/>
            </a:pPr>
            <a:r>
              <a:rPr b="1" lang="en-US" sz="1950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1" i="0" lang="en-US" sz="195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ovel system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101"/>
          <p:cNvSpPr/>
          <p:nvPr/>
        </p:nvSpPr>
        <p:spPr>
          <a:xfrm>
            <a:off x="1546688" y="4293116"/>
            <a:ext cx="4069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First application of FIDO2 + WebAuthn PRF to end-to-end document encryption, built as open-source </a:t>
            </a:r>
            <a:r>
              <a:rPr lang="en-US" sz="16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browser based tool.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101"/>
          <p:cNvSpPr/>
          <p:nvPr/>
        </p:nvSpPr>
        <p:spPr>
          <a:xfrm>
            <a:off x="6301574" y="3598521"/>
            <a:ext cx="5394900" cy="1740600"/>
          </a:xfrm>
          <a:prstGeom prst="roundRect">
            <a:avLst>
              <a:gd fmla="val 486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69" name="Google Shape;1369;p101"/>
          <p:cNvSpPr/>
          <p:nvPr/>
        </p:nvSpPr>
        <p:spPr>
          <a:xfrm>
            <a:off x="6621608" y="3863348"/>
            <a:ext cx="548700" cy="548700"/>
          </a:xfrm>
          <a:prstGeom prst="ellipse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70" name="Google Shape;1370;p101"/>
          <p:cNvSpPr/>
          <p:nvPr/>
        </p:nvSpPr>
        <p:spPr>
          <a:xfrm>
            <a:off x="6621608" y="386334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101"/>
          <p:cNvSpPr/>
          <p:nvPr/>
        </p:nvSpPr>
        <p:spPr>
          <a:xfrm>
            <a:off x="7353127" y="383591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50"/>
              <a:buFont typeface="Trebuchet MS"/>
              <a:buNone/>
            </a:pPr>
            <a:r>
              <a:rPr b="1" i="0" lang="en-US" sz="195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Empirical evidence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01"/>
          <p:cNvSpPr/>
          <p:nvPr/>
        </p:nvSpPr>
        <p:spPr>
          <a:xfrm>
            <a:off x="7353127" y="4293116"/>
            <a:ext cx="4069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One of the first human-subjects usability evaluations of the PRF extension in any context.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8" name="Google Shape;1378;p102"/>
          <p:cNvCxnSpPr/>
          <p:nvPr/>
        </p:nvCxnSpPr>
        <p:spPr>
          <a:xfrm>
            <a:off x="548640" y="6364224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DCE2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9" name="Google Shape;1379;p102"/>
          <p:cNvSpPr/>
          <p:nvPr/>
        </p:nvSpPr>
        <p:spPr>
          <a:xfrm>
            <a:off x="54864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1 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102"/>
          <p:cNvSpPr/>
          <p:nvPr/>
        </p:nvSpPr>
        <p:spPr>
          <a:xfrm>
            <a:off x="228600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2 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102"/>
          <p:cNvSpPr/>
          <p:nvPr/>
        </p:nvSpPr>
        <p:spPr>
          <a:xfrm>
            <a:off x="402336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3 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102"/>
          <p:cNvSpPr/>
          <p:nvPr/>
        </p:nvSpPr>
        <p:spPr>
          <a:xfrm>
            <a:off x="576072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3A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8893A0"/>
                </a:solidFill>
                <a:latin typeface="Trebuchet MS"/>
                <a:ea typeface="Trebuchet MS"/>
                <a:cs typeface="Trebuchet MS"/>
                <a:sym typeface="Trebuchet MS"/>
              </a:rPr>
              <a:t>4  Study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102"/>
          <p:cNvSpPr/>
          <p:nvPr/>
        </p:nvSpPr>
        <p:spPr>
          <a:xfrm>
            <a:off x="7498080" y="6419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5  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102"/>
          <p:cNvSpPr/>
          <p:nvPr/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16202E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 &amp; future work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102"/>
          <p:cNvSpPr/>
          <p:nvPr/>
        </p:nvSpPr>
        <p:spPr>
          <a:xfrm>
            <a:off x="586578" y="1737230"/>
            <a:ext cx="5440800" cy="3612000"/>
          </a:xfrm>
          <a:prstGeom prst="roundRect">
            <a:avLst>
              <a:gd fmla="val 2532" name="adj"/>
            </a:avLst>
          </a:prstGeom>
          <a:solidFill>
            <a:srgbClr val="F3F5F8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6" name="Google Shape;1386;p102"/>
          <p:cNvSpPr/>
          <p:nvPr/>
        </p:nvSpPr>
        <p:spPr>
          <a:xfrm>
            <a:off x="952338" y="196583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8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102"/>
          <p:cNvSpPr/>
          <p:nvPr/>
        </p:nvSpPr>
        <p:spPr>
          <a:xfrm>
            <a:off x="952338" y="2514470"/>
            <a:ext cx="4755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Small, technically literate sample (N = 21) </a:t>
            </a:r>
            <a:b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limits generalizability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Single lab session measures first use, </a:t>
            </a:r>
            <a:b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not long-term adoption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Privacy-concern ceiling effect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Prototype is not yet “mature” (D4) at </a:t>
            </a:r>
            <a:b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production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102"/>
          <p:cNvSpPr/>
          <p:nvPr/>
        </p:nvSpPr>
        <p:spPr>
          <a:xfrm>
            <a:off x="6164418" y="1737230"/>
            <a:ext cx="5440800" cy="361200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238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9" name="Google Shape;1389;p102"/>
          <p:cNvSpPr/>
          <p:nvPr/>
        </p:nvSpPr>
        <p:spPr>
          <a:xfrm>
            <a:off x="6530177" y="196583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18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2C4258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102"/>
          <p:cNvSpPr/>
          <p:nvPr/>
        </p:nvSpPr>
        <p:spPr>
          <a:xfrm>
            <a:off x="6530177" y="2514470"/>
            <a:ext cx="4755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Larger, more diverse, non-technical </a:t>
            </a:r>
            <a:b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participant samples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Longitudinal study of repeated real-world 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Onboarding to ease friction for lower-ATI users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2E3A45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Recovery &amp; key-portability </a:t>
            </a:r>
            <a:r>
              <a:rPr lang="en-US" sz="1800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b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2E3A45"/>
                </a:solidFill>
                <a:latin typeface="Calibri"/>
                <a:ea typeface="Calibri"/>
                <a:cs typeface="Calibri"/>
                <a:sym typeface="Calibri"/>
              </a:rPr>
              <a:t>production hardening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03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4E6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03"/>
          <p:cNvSpPr/>
          <p:nvPr/>
        </p:nvSpPr>
        <p:spPr>
          <a:xfrm>
            <a:off x="731515" y="6276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C3CDD7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103"/>
          <p:cNvSpPr/>
          <p:nvPr/>
        </p:nvSpPr>
        <p:spPr>
          <a:xfrm>
            <a:off x="731520" y="1081000"/>
            <a:ext cx="10515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Passwordless document encryption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is viable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9" name="Google Shape;139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93722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03"/>
          <p:cNvSpPr/>
          <p:nvPr/>
        </p:nvSpPr>
        <p:spPr>
          <a:xfrm>
            <a:off x="1280160" y="295337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EA"/>
              </a:buClr>
              <a:buSzPts val="1650"/>
              <a:buFont typeface="Calibri"/>
              <a:buNone/>
            </a:pPr>
            <a:r>
              <a:rPr lang="en-US" sz="1650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650" u="none" cap="none" strike="noStrike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ramework showed no existing method satisfies all 15 benefits, </a:t>
            </a:r>
            <a:r>
              <a:rPr lang="en-US" sz="1650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designed system carries the most benefits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1" name="Google Shape;1401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50414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103"/>
          <p:cNvSpPr/>
          <p:nvPr/>
        </p:nvSpPr>
        <p:spPr>
          <a:xfrm>
            <a:off x="1280160" y="352030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EA"/>
              </a:buClr>
              <a:buSzPts val="1650"/>
              <a:buFont typeface="Calibri"/>
              <a:buNone/>
            </a:pPr>
            <a:r>
              <a:rPr lang="en-US" sz="1650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Novel system uses </a:t>
            </a:r>
            <a:r>
              <a:rPr b="0" i="0" lang="en-US" sz="1650" u="none" cap="none" strike="noStrike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age + FIDO2 + WebAuthn PRF </a:t>
            </a:r>
            <a:r>
              <a:rPr lang="en-US" sz="1650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to provide </a:t>
            </a:r>
            <a:r>
              <a:rPr b="0" i="0" lang="en-US" sz="1650" u="none" cap="none" strike="noStrike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non-custodial, per-file, in-browser encryption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3" name="Google Shape;1403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071077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03"/>
          <p:cNvSpPr/>
          <p:nvPr/>
        </p:nvSpPr>
        <p:spPr>
          <a:xfrm>
            <a:off x="1280160" y="408723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EA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On first use it matched Adobe on usability and was rated significantly more useful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5" name="Google Shape;1405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63800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03"/>
          <p:cNvSpPr/>
          <p:nvPr/>
        </p:nvSpPr>
        <p:spPr>
          <a:xfrm>
            <a:off x="1280160" y="46541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EA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Users strongly preferred it for real-world document sharing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7" name="Google Shape;140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47" y="520493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03"/>
          <p:cNvSpPr/>
          <p:nvPr/>
        </p:nvSpPr>
        <p:spPr>
          <a:xfrm>
            <a:off x="1280147" y="5221085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EA"/>
              </a:buClr>
              <a:buSzPts val="1650"/>
              <a:buFont typeface="Calibri"/>
              <a:buNone/>
            </a:pPr>
            <a:r>
              <a:rPr lang="en-US" sz="1650">
                <a:solidFill>
                  <a:srgbClr val="DCE4EA"/>
                </a:solidFill>
                <a:latin typeface="Calibri"/>
                <a:ea typeface="Calibri"/>
                <a:cs typeface="Calibri"/>
                <a:sym typeface="Calibri"/>
              </a:rPr>
              <a:t>Addresses the weaknesses that cause MFT breaches</a:t>
            </a:r>
            <a:endParaRPr sz="1650">
              <a:solidFill>
                <a:srgbClr val="DCE4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EA"/>
              </a:buClr>
              <a:buSzPts val="1650"/>
              <a:buFont typeface="Calibri"/>
              <a:buNone/>
            </a:pPr>
            <a:r>
              <a:t/>
            </a:r>
            <a:endParaRPr sz="1650">
              <a:solidFill>
                <a:srgbClr val="DCE4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04"/>
          <p:cNvSpPr/>
          <p:nvPr/>
        </p:nvSpPr>
        <p:spPr>
          <a:xfrm>
            <a:off x="777250" y="1371600"/>
            <a:ext cx="90054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63"/>
              <a:buFont typeface="Trebuchet MS"/>
              <a:buNone/>
            </a:pPr>
            <a:r>
              <a:rPr b="1" i="0" lang="en-US" sz="7509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b="0" i="0" sz="75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104"/>
          <p:cNvSpPr/>
          <p:nvPr/>
        </p:nvSpPr>
        <p:spPr>
          <a:xfrm>
            <a:off x="777259" y="2828427"/>
            <a:ext cx="9005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DD7"/>
              </a:buClr>
              <a:buSzPts val="2708"/>
              <a:buFont typeface="Trebuchet MS"/>
              <a:buNone/>
            </a:pPr>
            <a:r>
              <a:rPr b="0" i="0" lang="en-US" sz="4555" u="none" cap="none" strike="noStrike">
                <a:solidFill>
                  <a:srgbClr val="C3CDD7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 &amp; discussion</a:t>
            </a:r>
            <a:endParaRPr b="0" i="0" sz="4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104"/>
          <p:cNvSpPr/>
          <p:nvPr/>
        </p:nvSpPr>
        <p:spPr>
          <a:xfrm>
            <a:off x="7858126" y="1460626"/>
            <a:ext cx="3519900" cy="41928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129412" rotWithShape="0" algn="bl" dir="5400000" dist="43137">
              <a:srgbClr val="22384A">
                <a:alpha val="16078"/>
              </a:srgbClr>
            </a:outerShdw>
          </a:effectLst>
        </p:spPr>
        <p:txBody>
          <a:bodyPr anchorCtr="0" anchor="ctr" bIns="103525" lIns="103525" spcFirstLastPara="1" rIns="103525" wrap="square" tIns="10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ssets/app_qr.png" id="1417" name="Google Shape;141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0482" y="1771215"/>
            <a:ext cx="2795300" cy="27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104"/>
          <p:cNvSpPr/>
          <p:nvPr/>
        </p:nvSpPr>
        <p:spPr>
          <a:xfrm>
            <a:off x="7858126" y="4618279"/>
            <a:ext cx="3519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64F"/>
              </a:buClr>
              <a:buSzPts val="1698"/>
              <a:buFont typeface="Trebuchet MS"/>
              <a:buNone/>
            </a:pPr>
            <a:r>
              <a:rPr b="1" i="0" lang="en-US" sz="1698" u="none" cap="none" strike="noStrike">
                <a:solidFill>
                  <a:srgbClr val="22364F"/>
                </a:solidFill>
                <a:latin typeface="Trebuchet MS"/>
                <a:ea typeface="Trebuchet MS"/>
                <a:cs typeface="Trebuchet MS"/>
                <a:sym typeface="Trebuchet MS"/>
              </a:rPr>
              <a:t>Try the live demo</a:t>
            </a:r>
            <a:endParaRPr b="0" i="0" sz="16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104"/>
          <p:cNvSpPr/>
          <p:nvPr/>
        </p:nvSpPr>
        <p:spPr>
          <a:xfrm>
            <a:off x="7858126" y="5011692"/>
            <a:ext cx="3519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258"/>
              </a:buClr>
              <a:buSzPts val="1472"/>
              <a:buFont typeface="Calibri"/>
              <a:buNone/>
            </a:pPr>
            <a:r>
              <a:rPr b="0" i="0" lang="en-US" sz="1472" u="none" cap="none" strike="noStrike">
                <a:solidFill>
                  <a:srgbClr val="2C4258"/>
                </a:solidFill>
                <a:latin typeface="Calibri"/>
                <a:ea typeface="Calibri"/>
                <a:cs typeface="Calibri"/>
                <a:sym typeface="Calibri"/>
              </a:rPr>
              <a:t>doc-protect.vercel.app</a:t>
            </a:r>
            <a:endParaRPr b="0" i="0" sz="14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